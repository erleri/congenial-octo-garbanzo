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2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D84128-7FE9-A5B7-9754-926F48367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7024A39-2AA8-6E45-5C7F-4F8FEDA121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DDE30B-9BF9-9324-1610-A863A9AB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7A7060-5C67-3B38-EA2C-31910416A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572610-90FA-3177-7C37-F6EEF4FBA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530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CF756-412E-C433-5B14-0410D7C2B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53523B-6A55-E05C-CE34-357A222E0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CF5E38-60D3-F297-233F-BD1097CC4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C945AB-994B-D87A-37A4-5AAAD97E9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68AA89-4AF8-6FA6-C7AF-D7D1AD20C6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7381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ED80A-52AE-03DA-4C6F-D10AB3ABA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DD3624-D115-CEB6-3CFB-07B26DDD3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BB54F8-1326-E1BE-40FC-B51A73214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2139F0-90BE-14C6-7DB7-E33C306707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170E1B-78F2-52E6-0F2D-AF81463F1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09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D97C2E-AF78-A7B4-5D17-E411A8584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934A80-18B0-B938-A2DA-F3DCDD9067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09A294F-92D9-7673-E412-6C5D67DB5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390036D-E08D-76EA-00B2-9D4F129C4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AE733C-4435-EB1D-035D-CED0EA6A2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36FF42-F2FA-65C4-2936-8076B2C93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250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BADF5A-01B9-3078-119E-71EF72B03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0B12F4-7301-2444-D92A-A0278D68B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144C6D-06A9-5C3A-4344-43397DA55D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826677B-9B7A-E06F-E7DC-F85EC93AFF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F42186B-58B3-E2D8-E4E8-F46069A52C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BF66F32-FE97-2CDB-34E4-5A2CB05B1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F21E882-DAE8-9B9D-53DC-21CA31A65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D2335B4-8677-A6CD-5E19-54CC5816F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999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5FB85E-B09F-B67F-9341-AD34163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2835B5D-2BD2-A022-B614-5585BA602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BE246E-DA2C-0D05-BAE5-63EB535CF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2C1C5D-0614-AED5-DE14-ADF0627AB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0605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1E8CF90-7454-1739-9E1B-9F4744934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6C2F535-488A-9F69-BF34-B6FFF51AE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6EC71-2EE3-3D92-8E7B-EB8A77B4C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0635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5E441-0120-7608-6AD2-F9CDBC640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AB811B-28B4-BB2C-6F77-934A66C6D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D78036F-3101-B23C-833B-1AB973CF71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154D033-A963-9BDC-632F-4F1D49297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AF1524D-B89A-45E9-3570-C9C2F8E30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CB030E-01B9-22E5-4A53-2D7A2E5CB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81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83C6F-CA91-BE5C-F53B-4DB9A3ED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D155FFF-6AEC-1896-EB52-7F8AC680ED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71EE63-47E2-8BFC-3882-220A822164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8CD10-4C6C-A495-B522-6FF384D1F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334232-8169-E88C-EE7B-4559B27FA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24DB33-0703-FD01-FC6E-AA999CAD4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703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D8DC8-2029-0DAF-C445-7F9E9C5E1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F02CD44-A43A-518D-CCF2-4A5869AF7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9B89E8C-8593-D9DE-B00D-728414617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FB3F16-1DEB-26BC-AEAA-02BCA7199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DAFFC2E-DA6E-7071-C196-A8AC2608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0385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EC08AD5-4B25-FDE8-8BDB-F2DEEA0D64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83C679-759F-E2D2-F190-B2579E424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1D00F5-2DF3-BBD6-FEA5-F009C9863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832280-6256-911D-06D5-447C17327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B822C9-5D10-1F05-FE40-340B048C8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780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B86DB32-3035-9F2A-6672-1DD62008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F772C0-A331-654E-9B67-375A8614E6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971F8B-A402-5C55-FB17-A8A1EA2552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D95B0C-501E-4FB7-8F81-D76307BABC43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9817EA-5FA3-2F5A-F562-4FC55B4D9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5B3D1E-5034-4F06-6102-1769BC1A7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20B6F7-E686-4599-A449-5D29F9261C2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6143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9D8A6DC-171B-DA34-CE97-70670162E72A}"/>
              </a:ext>
            </a:extLst>
          </p:cNvPr>
          <p:cNvSpPr/>
          <p:nvPr/>
        </p:nvSpPr>
        <p:spPr>
          <a:xfrm>
            <a:off x="736600" y="609600"/>
            <a:ext cx="2032000" cy="355600"/>
          </a:xfrm>
          <a:prstGeom prst="round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AX CASE STUDY · 10~12</a:t>
            </a:r>
            <a:r>
              <a:rPr lang="ko-KR" altLang="en-US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6BDCD-A950-C890-DB3C-3D11059E061B}"/>
              </a:ext>
            </a:extLst>
          </p:cNvPr>
          <p:cNvSpPr txBox="1"/>
          <p:nvPr/>
        </p:nvSpPr>
        <p:spPr>
          <a:xfrm>
            <a:off x="736600" y="1549400"/>
            <a:ext cx="7747000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500">
                <a:solidFill>
                  <a:srgbClr val="4D586A"/>
                </a:solidFill>
                <a:latin typeface="Malgun Gothic" panose="020B0503020000020004" pitchFamily="50" charset="-127"/>
              </a:rPr>
              <a:t>환율 사이트를 만들며 배운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B8DC26-8E1B-3CB6-4C7B-0533A257CEBA}"/>
              </a:ext>
            </a:extLst>
          </p:cNvPr>
          <p:cNvSpPr txBox="1"/>
          <p:nvPr/>
        </p:nvSpPr>
        <p:spPr>
          <a:xfrm>
            <a:off x="736600" y="2159000"/>
            <a:ext cx="77470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48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4800" b="1">
                <a:solidFill>
                  <a:srgbClr val="172033"/>
                </a:solidFill>
                <a:latin typeface="Malgun Gothic" panose="020B0503020000020004" pitchFamily="50" charset="-127"/>
              </a:rPr>
              <a:t>의 실제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0F513-4AB9-21DA-08C1-CB94AB151A4C}"/>
              </a:ext>
            </a:extLst>
          </p:cNvPr>
          <p:cNvSpPr txBox="1"/>
          <p:nvPr/>
        </p:nvSpPr>
        <p:spPr>
          <a:xfrm>
            <a:off x="774700" y="3479800"/>
            <a:ext cx="78740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000" b="1">
                <a:solidFill>
                  <a:srgbClr val="24736B"/>
                </a:solidFill>
                <a:latin typeface="Malgun Gothic" panose="020B0503020000020004" pitchFamily="50" charset="-127"/>
              </a:rPr>
              <a:t>무엇을 만들었는가보다</a:t>
            </a:r>
            <a:r>
              <a:rPr lang="en-US" altLang="ko-KR" sz="2000" b="1">
                <a:solidFill>
                  <a:srgbClr val="24736B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2000" b="1">
                <a:solidFill>
                  <a:srgbClr val="24736B"/>
                </a:solidFill>
                <a:latin typeface="Malgun Gothic" panose="020B0503020000020004" pitchFamily="50" charset="-127"/>
              </a:rPr>
              <a:t>현업의 일을 어떻게 바꿨는가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B1AE8CD-273C-E021-4E9C-B6A16CB1D990}"/>
              </a:ext>
            </a:extLst>
          </p:cNvPr>
          <p:cNvSpPr/>
          <p:nvPr/>
        </p:nvSpPr>
        <p:spPr>
          <a:xfrm>
            <a:off x="736600" y="4368800"/>
            <a:ext cx="9144000" cy="1168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BBE408-21F7-FCBA-FBD8-2E70EC961D51}"/>
              </a:ext>
            </a:extLst>
          </p:cNvPr>
          <p:cNvSpPr txBox="1"/>
          <p:nvPr/>
        </p:nvSpPr>
        <p:spPr>
          <a:xfrm>
            <a:off x="1041400" y="4699000"/>
            <a:ext cx="8509000" cy="2923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“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는 현업의 반복 업무와 판단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공유 방식을 다시 설계하는 일입니다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.”</a:t>
            </a:r>
            <a:endParaRPr lang="ko-KR" altLang="en-US" sz="19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097AAB-0BD3-3149-3E4B-1FA3343A8B87}"/>
              </a:ext>
            </a:extLst>
          </p:cNvPr>
          <p:cNvSpPr txBox="1"/>
          <p:nvPr/>
        </p:nvSpPr>
        <p:spPr>
          <a:xfrm>
            <a:off x="762000" y="5918200"/>
            <a:ext cx="7620000" cy="1692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100">
                <a:solidFill>
                  <a:srgbClr val="697386"/>
                </a:solidFill>
                <a:latin typeface="Malgun Gothic" panose="020B0503020000020004" pitchFamily="50" charset="-127"/>
              </a:rPr>
              <a:t>LatamFX</a:t>
            </a:r>
            <a:r>
              <a:rPr lang="ko-KR" altLang="en-US" sz="1100">
                <a:solidFill>
                  <a:srgbClr val="697386"/>
                </a:solidFill>
                <a:latin typeface="Malgun Gothic" panose="020B0503020000020004" pitchFamily="50" charset="-127"/>
              </a:rPr>
              <a:t>는 주인공이 아니라</a:t>
            </a:r>
            <a:r>
              <a:rPr lang="en-US" altLang="ko-KR" sz="1100">
                <a:solidFill>
                  <a:srgbClr val="69738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100">
                <a:solidFill>
                  <a:srgbClr val="697386"/>
                </a:solidFill>
                <a:latin typeface="Malgun Gothic" panose="020B0503020000020004" pitchFamily="50" charset="-127"/>
              </a:rPr>
              <a:t>이 생각을 검증한 사례입니다</a:t>
            </a:r>
            <a:r>
              <a:rPr lang="en-US" altLang="ko-KR" sz="1100">
                <a:solidFill>
                  <a:srgbClr val="697386"/>
                </a:solidFill>
                <a:latin typeface="Malgun Gothic" panose="020B0503020000020004" pitchFamily="50" charset="-127"/>
              </a:rPr>
              <a:t>.</a:t>
            </a:r>
            <a:endParaRPr lang="ko-KR" altLang="en-US" sz="1100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8838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9B4C96-818C-8B8C-7151-96A343681FE8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01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02833-7DBB-CCB8-5E61-EBEF98319264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3726F-28E8-5501-3AE6-A9D3115F5D9A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출발점은 </a:t>
            </a:r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가 아니라 현업의 불편이었다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2FEFB-A2BA-C4D2-A4A3-06CE1AE7CB4C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기술을 먼저 고르지 않고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사람이 매일 붙잡혀 있는 흐름을 먼저 본다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296D931-6BEF-7FA3-C4E8-DCB898B17C60}"/>
              </a:ext>
            </a:extLst>
          </p:cNvPr>
          <p:cNvSpPr/>
          <p:nvPr/>
        </p:nvSpPr>
        <p:spPr>
          <a:xfrm>
            <a:off x="825500" y="2413000"/>
            <a:ext cx="1714500" cy="660400"/>
          </a:xfrm>
          <a:prstGeom prst="round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검색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D962D63-6582-F5CB-5409-2D864D0E358A}"/>
              </a:ext>
            </a:extLst>
          </p:cNvPr>
          <p:cNvCxnSpPr/>
          <p:nvPr/>
        </p:nvCxnSpPr>
        <p:spPr>
          <a:xfrm>
            <a:off x="2578100" y="2743200"/>
            <a:ext cx="3429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6C302D55-D6A4-17EA-6A45-6D40F739C81D}"/>
              </a:ext>
            </a:extLst>
          </p:cNvPr>
          <p:cNvSpPr/>
          <p:nvPr/>
        </p:nvSpPr>
        <p:spPr>
          <a:xfrm>
            <a:off x="2984500" y="2413000"/>
            <a:ext cx="1714500" cy="660400"/>
          </a:xfrm>
          <a:prstGeom prst="roundRect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계산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FE85D14C-2267-F3F0-E4CE-6333938BEF82}"/>
              </a:ext>
            </a:extLst>
          </p:cNvPr>
          <p:cNvCxnSpPr/>
          <p:nvPr/>
        </p:nvCxnSpPr>
        <p:spPr>
          <a:xfrm>
            <a:off x="4737100" y="2743200"/>
            <a:ext cx="3429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8020644-D8D7-7285-0FB0-B4D9E9D5DC6F}"/>
              </a:ext>
            </a:extLst>
          </p:cNvPr>
          <p:cNvSpPr/>
          <p:nvPr/>
        </p:nvSpPr>
        <p:spPr>
          <a:xfrm>
            <a:off x="5143500" y="2413000"/>
            <a:ext cx="1714500" cy="660400"/>
          </a:xfrm>
          <a:prstGeom prst="round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비교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9DC2715-7363-5432-EF67-9B10BC3A3122}"/>
              </a:ext>
            </a:extLst>
          </p:cNvPr>
          <p:cNvCxnSpPr/>
          <p:nvPr/>
        </p:nvCxnSpPr>
        <p:spPr>
          <a:xfrm>
            <a:off x="6896100" y="2743200"/>
            <a:ext cx="3429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E792D20-873D-6E2F-26D0-B2F9DFA83585}"/>
              </a:ext>
            </a:extLst>
          </p:cNvPr>
          <p:cNvSpPr/>
          <p:nvPr/>
        </p:nvSpPr>
        <p:spPr>
          <a:xfrm>
            <a:off x="7302500" y="2413000"/>
            <a:ext cx="1714500" cy="660400"/>
          </a:xfrm>
          <a:prstGeom prst="round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판단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18E8F9D-373C-0876-0C79-AB78A5019690}"/>
              </a:ext>
            </a:extLst>
          </p:cNvPr>
          <p:cNvCxnSpPr/>
          <p:nvPr/>
        </p:nvCxnSpPr>
        <p:spPr>
          <a:xfrm>
            <a:off x="9055100" y="2743200"/>
            <a:ext cx="3429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B919B42-0E46-31AC-4DB6-E6BF887D2EA1}"/>
              </a:ext>
            </a:extLst>
          </p:cNvPr>
          <p:cNvSpPr/>
          <p:nvPr/>
        </p:nvSpPr>
        <p:spPr>
          <a:xfrm>
            <a:off x="9461500" y="2413000"/>
            <a:ext cx="1714500" cy="660400"/>
          </a:xfrm>
          <a:prstGeom prst="round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공유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22364582-AD89-D83A-5AD1-8C532E50C666}"/>
              </a:ext>
            </a:extLst>
          </p:cNvPr>
          <p:cNvSpPr/>
          <p:nvPr/>
        </p:nvSpPr>
        <p:spPr>
          <a:xfrm>
            <a:off x="825500" y="38354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68D9DA8-D74E-C1DB-FFA1-BD090FCD6E0D}"/>
              </a:ext>
            </a:extLst>
          </p:cNvPr>
          <p:cNvSpPr/>
          <p:nvPr/>
        </p:nvSpPr>
        <p:spPr>
          <a:xfrm>
            <a:off x="825500" y="3835400"/>
            <a:ext cx="76200" cy="15875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CA1CBC-2F18-32B5-BC59-770321BE98C0}"/>
              </a:ext>
            </a:extLst>
          </p:cNvPr>
          <p:cNvSpPr txBox="1"/>
          <p:nvPr/>
        </p:nvSpPr>
        <p:spPr>
          <a:xfrm>
            <a:off x="1079500" y="40259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반복의 비용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41E0F8-6027-45E8-BE13-0A644CBFCCA2}"/>
              </a:ext>
            </a:extLst>
          </p:cNvPr>
          <p:cNvSpPr txBox="1"/>
          <p:nvPr/>
        </p:nvSpPr>
        <p:spPr>
          <a:xfrm>
            <a:off x="1079500" y="4457700"/>
            <a:ext cx="27178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각 단계는 어렵지 않지만 매일 쌓이고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숫자 이동 과정에서 오류가 생깁니다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12D2464-987B-C384-8579-FC208CF8F444}"/>
              </a:ext>
            </a:extLst>
          </p:cNvPr>
          <p:cNvSpPr/>
          <p:nvPr/>
        </p:nvSpPr>
        <p:spPr>
          <a:xfrm>
            <a:off x="4508500" y="38354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D353838-E3B4-ABE4-91A7-9D7082081652}"/>
              </a:ext>
            </a:extLst>
          </p:cNvPr>
          <p:cNvSpPr/>
          <p:nvPr/>
        </p:nvSpPr>
        <p:spPr>
          <a:xfrm>
            <a:off x="4508500" y="3835400"/>
            <a:ext cx="76200" cy="15875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139707-8EF0-8389-109C-3B1A87DF8105}"/>
              </a:ext>
            </a:extLst>
          </p:cNvPr>
          <p:cNvSpPr txBox="1"/>
          <p:nvPr/>
        </p:nvSpPr>
        <p:spPr>
          <a:xfrm>
            <a:off x="4762500" y="40259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판단의 편차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D66AD0-EFCA-B815-1E95-40C689E9B308}"/>
              </a:ext>
            </a:extLst>
          </p:cNvPr>
          <p:cNvSpPr txBox="1"/>
          <p:nvPr/>
        </p:nvSpPr>
        <p:spPr>
          <a:xfrm>
            <a:off x="4762500" y="4457700"/>
            <a:ext cx="27178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사람마다 비교 기준과 주목하는 통화가 달라 같은 데이터로 다른 대화를 할 수 있습니다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C243643-8D23-555A-A491-A75C0238A47E}"/>
              </a:ext>
            </a:extLst>
          </p:cNvPr>
          <p:cNvSpPr/>
          <p:nvPr/>
        </p:nvSpPr>
        <p:spPr>
          <a:xfrm>
            <a:off x="8191500" y="38354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FEFDCE8-3163-1F55-7402-A1C0D3617037}"/>
              </a:ext>
            </a:extLst>
          </p:cNvPr>
          <p:cNvSpPr/>
          <p:nvPr/>
        </p:nvSpPr>
        <p:spPr>
          <a:xfrm>
            <a:off x="8191500" y="3835400"/>
            <a:ext cx="76200" cy="15875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A94A5E-7DF3-F4DA-88FB-EFD75F7782B0}"/>
              </a:ext>
            </a:extLst>
          </p:cNvPr>
          <p:cNvSpPr txBox="1"/>
          <p:nvPr/>
        </p:nvSpPr>
        <p:spPr>
          <a:xfrm>
            <a:off x="8445500" y="40259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의 첫 질문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29586E-0F52-2091-FBF6-6DD64B120DCB}"/>
              </a:ext>
            </a:extLst>
          </p:cNvPr>
          <p:cNvSpPr txBox="1"/>
          <p:nvPr/>
        </p:nvSpPr>
        <p:spPr>
          <a:xfrm>
            <a:off x="8445500" y="4457700"/>
            <a:ext cx="27178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“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로 무엇을 할까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?”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보다 “어떤 반복이 중요한 판단을 방해하는가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?”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2E0E52-00B4-32C9-A2EF-8DDA20EA202F}"/>
              </a:ext>
            </a:extLst>
          </p:cNvPr>
          <p:cNvSpPr txBox="1"/>
          <p:nvPr/>
        </p:nvSpPr>
        <p:spPr>
          <a:xfrm>
            <a:off x="711200" y="6413500"/>
            <a:ext cx="8255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LatamFX AX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사례 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문제 정의</a:t>
            </a:r>
          </a:p>
        </p:txBody>
      </p:sp>
    </p:spTree>
    <p:extLst>
      <p:ext uri="{BB962C8B-B14F-4D97-AF65-F5344CB8AC3E}">
        <p14:creationId xmlns:p14="http://schemas.microsoft.com/office/powerpoint/2010/main" val="601344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E91578-2ED9-DC0F-3BEC-303D06778C23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02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117D30-3A56-7BF5-63B2-388B51326667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4AEC8D-5497-DBD7-6A5E-C6983134E68C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바이브 코딩은 목적이 아니라 빠른 실험 수단이다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418AF-615F-D09D-5A8F-AE4E8F7CF55B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자연어로 요구를 설명하고 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와 대화하며 작동하는 시제품을 빠르게 만든다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74E511B-DCFC-0172-697A-41FF9A5B5B30}"/>
              </a:ext>
            </a:extLst>
          </p:cNvPr>
          <p:cNvSpPr/>
          <p:nvPr/>
        </p:nvSpPr>
        <p:spPr>
          <a:xfrm>
            <a:off x="889000" y="2222500"/>
            <a:ext cx="31115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6D14A8E-AB30-1016-8925-96FCB807F578}"/>
              </a:ext>
            </a:extLst>
          </p:cNvPr>
          <p:cNvSpPr/>
          <p:nvPr/>
        </p:nvSpPr>
        <p:spPr>
          <a:xfrm>
            <a:off x="889000" y="2222500"/>
            <a:ext cx="76200" cy="2667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89471B-E81C-88A7-FB1B-75D4BEA134D8}"/>
              </a:ext>
            </a:extLst>
          </p:cNvPr>
          <p:cNvSpPr txBox="1"/>
          <p:nvPr/>
        </p:nvSpPr>
        <p:spPr>
          <a:xfrm>
            <a:off x="1143000" y="2413000"/>
            <a:ext cx="26543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가 잘하는 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F968A4-89BA-ED0D-D9F7-A69C1525C13B}"/>
              </a:ext>
            </a:extLst>
          </p:cNvPr>
          <p:cNvSpPr txBox="1"/>
          <p:nvPr/>
        </p:nvSpPr>
        <p:spPr>
          <a:xfrm>
            <a:off x="1143000" y="2844800"/>
            <a:ext cx="26543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코드 초안 만들기</a:t>
            </a:r>
          </a:p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시제품 속도 높이기</a:t>
            </a:r>
          </a:p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수정안을 빠르게 반복하기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A65C280-25EF-68E5-861B-BF99A4BF0BC5}"/>
              </a:ext>
            </a:extLst>
          </p:cNvPr>
          <p:cNvSpPr/>
          <p:nvPr/>
        </p:nvSpPr>
        <p:spPr>
          <a:xfrm>
            <a:off x="4533900" y="2222500"/>
            <a:ext cx="31115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5A54B8C-2350-3585-E591-79FC67BACA53}"/>
              </a:ext>
            </a:extLst>
          </p:cNvPr>
          <p:cNvSpPr/>
          <p:nvPr/>
        </p:nvSpPr>
        <p:spPr>
          <a:xfrm>
            <a:off x="4533900" y="2222500"/>
            <a:ext cx="76200" cy="26670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8DDD9B-910A-65F5-0F56-03F2646620C8}"/>
              </a:ext>
            </a:extLst>
          </p:cNvPr>
          <p:cNvSpPr txBox="1"/>
          <p:nvPr/>
        </p:nvSpPr>
        <p:spPr>
          <a:xfrm>
            <a:off x="4787900" y="2413000"/>
            <a:ext cx="26543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사람이 책임질 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DE512F-2A92-A753-9659-E1B3811D3037}"/>
              </a:ext>
            </a:extLst>
          </p:cNvPr>
          <p:cNvSpPr txBox="1"/>
          <p:nvPr/>
        </p:nvSpPr>
        <p:spPr>
          <a:xfrm>
            <a:off x="4787900" y="2844800"/>
            <a:ext cx="2654300" cy="7386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문제 정의하기</a:t>
            </a:r>
          </a:p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데이터와 계산 검증하기</a:t>
            </a:r>
          </a:p>
          <a:p>
            <a:r>
              <a:rPr lang="ko-KR" altLang="en-US" sz="1600">
                <a:solidFill>
                  <a:srgbClr val="4D586A"/>
                </a:solidFill>
                <a:latin typeface="Malgun Gothic" panose="020B0503020000020004" pitchFamily="50" charset="-127"/>
              </a:rPr>
              <a:t>업무 적용 여부 판단하기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3D11DBC-48BA-B523-6B7C-C475A631154B}"/>
              </a:ext>
            </a:extLst>
          </p:cNvPr>
          <p:cNvSpPr/>
          <p:nvPr/>
        </p:nvSpPr>
        <p:spPr>
          <a:xfrm>
            <a:off x="8178800" y="2222500"/>
            <a:ext cx="3111500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380D97A-4115-0D0A-6CF5-A1F276631A47}"/>
              </a:ext>
            </a:extLst>
          </p:cNvPr>
          <p:cNvSpPr/>
          <p:nvPr/>
        </p:nvSpPr>
        <p:spPr>
          <a:xfrm>
            <a:off x="8178800" y="2222500"/>
            <a:ext cx="76200" cy="2667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15EBB23-B9C2-81A5-1416-9D90F3AEC5FE}"/>
              </a:ext>
            </a:extLst>
          </p:cNvPr>
          <p:cNvSpPr txBox="1"/>
          <p:nvPr/>
        </p:nvSpPr>
        <p:spPr>
          <a:xfrm>
            <a:off x="8432800" y="2413000"/>
            <a:ext cx="26543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바이브 코딩의 가치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4A78E6-12C2-0BEE-580B-5FB5008346AD}"/>
              </a:ext>
            </a:extLst>
          </p:cNvPr>
          <p:cNvSpPr txBox="1"/>
          <p:nvPr/>
        </p:nvSpPr>
        <p:spPr>
          <a:xfrm>
            <a:off x="8432800" y="2844800"/>
            <a:ext cx="2654300" cy="6924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500">
                <a:solidFill>
                  <a:srgbClr val="4D586A"/>
                </a:solidFill>
                <a:latin typeface="Malgun Gothic" panose="020B0503020000020004" pitchFamily="50" charset="-127"/>
              </a:rPr>
              <a:t>완성품을 단번에 만드는 것이 아니라</a:t>
            </a:r>
            <a:r>
              <a:rPr lang="en-US" altLang="ko-KR" sz="15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500">
                <a:solidFill>
                  <a:srgbClr val="4D586A"/>
                </a:solidFill>
                <a:latin typeface="Malgun Gothic" panose="020B0503020000020004" pitchFamily="50" charset="-127"/>
              </a:rPr>
              <a:t>가설을 싸게 시험하고 틀린 부분을 빨리 발견하는 것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7B964A-E1B7-5E63-77E1-0CD64858816F}"/>
              </a:ext>
            </a:extLst>
          </p:cNvPr>
          <p:cNvSpPr txBox="1"/>
          <p:nvPr/>
        </p:nvSpPr>
        <p:spPr>
          <a:xfrm>
            <a:off x="3683000" y="5435600"/>
            <a:ext cx="4826000" cy="3847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2500" b="1">
                <a:solidFill>
                  <a:srgbClr val="172033"/>
                </a:solidFill>
                <a:latin typeface="Malgun Gothic" panose="020B0503020000020004" pitchFamily="50" charset="-127"/>
              </a:rPr>
              <a:t>속도 ≠ 신뢰성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3ADA42-ED03-4F66-3C29-B5D0138EFC50}"/>
              </a:ext>
            </a:extLst>
          </p:cNvPr>
          <p:cNvSpPr txBox="1"/>
          <p:nvPr/>
        </p:nvSpPr>
        <p:spPr>
          <a:xfrm>
            <a:off x="2730500" y="5969000"/>
            <a:ext cx="6731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300">
                <a:solidFill>
                  <a:srgbClr val="697386"/>
                </a:solidFill>
                <a:latin typeface="Malgun Gothic" panose="020B0503020000020004" pitchFamily="50" charset="-127"/>
              </a:rPr>
              <a:t>빠르게 만들수록 검증 기준과 책임은 더 명확해야 합니다</a:t>
            </a:r>
            <a:r>
              <a:rPr lang="en-US" altLang="ko-KR" sz="1300">
                <a:solidFill>
                  <a:srgbClr val="697386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B5F165-C294-9091-50F9-94AD4E90FD22}"/>
              </a:ext>
            </a:extLst>
          </p:cNvPr>
          <p:cNvSpPr txBox="1"/>
          <p:nvPr/>
        </p:nvSpPr>
        <p:spPr>
          <a:xfrm>
            <a:off x="711200" y="6413500"/>
            <a:ext cx="8255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LatamFX AX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사례 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바이브 코딩의 역할</a:t>
            </a:r>
          </a:p>
        </p:txBody>
      </p:sp>
    </p:spTree>
    <p:extLst>
      <p:ext uri="{BB962C8B-B14F-4D97-AF65-F5344CB8AC3E}">
        <p14:creationId xmlns:p14="http://schemas.microsoft.com/office/powerpoint/2010/main" val="20330965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E8521A-F37F-1D61-DAE4-E72E3A17ED0A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03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883F99-7C24-89AA-1329-E667A40C6F7F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82770B-028E-DC15-26E8-E73B9782EEDE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LatamFX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는 이렇게 업무를 바꿨다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4E23C-D567-2919-02B5-D03F9E646FEB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기능의 수보다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사용자가 어떤 판단으로 더 빨리 이동했는가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95991BC-659A-ECFA-AACE-3F6A19A93D74}"/>
              </a:ext>
            </a:extLst>
          </p:cNvPr>
          <p:cNvSpPr/>
          <p:nvPr/>
        </p:nvSpPr>
        <p:spPr>
          <a:xfrm>
            <a:off x="635000" y="2070100"/>
            <a:ext cx="6731000" cy="4254500"/>
          </a:xfrm>
          <a:prstGeom prst="roundRect">
            <a:avLst/>
          </a:prstGeom>
          <a:solidFill>
            <a:srgbClr val="FFFFFF"/>
          </a:solidFill>
          <a:ln>
            <a:solidFill>
              <a:srgbClr val="D9D7CF"/>
            </a:solidFill>
          </a:ln>
          <a:effectLst>
            <a:outerShdw blurRad="63500" dist="37357" dir="2700000" rotWithShape="0">
              <a:scrgbClr r="0" g="0" b="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12D737B-4AC7-0289-1833-52D433D64B6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133600"/>
            <a:ext cx="6604000" cy="4127500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3C48A4C-1C89-5C04-8E1A-D1B1D6CC9FF2}"/>
              </a:ext>
            </a:extLst>
          </p:cNvPr>
          <p:cNvSpPr/>
          <p:nvPr/>
        </p:nvSpPr>
        <p:spPr>
          <a:xfrm>
            <a:off x="7810500" y="2070100"/>
            <a:ext cx="1676400" cy="355600"/>
          </a:xfrm>
          <a:prstGeom prst="round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시연은 </a:t>
            </a:r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60</a:t>
            </a:r>
            <a:r>
              <a:rPr lang="ko-KR" altLang="en-US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초 이내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22810A45-2778-065E-8104-29AA51B87172}"/>
              </a:ext>
            </a:extLst>
          </p:cNvPr>
          <p:cNvSpPr/>
          <p:nvPr/>
        </p:nvSpPr>
        <p:spPr>
          <a:xfrm>
            <a:off x="7810500" y="2628900"/>
            <a:ext cx="368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CA3148-87B1-6B72-CE0B-CB75C2A8EDF8}"/>
              </a:ext>
            </a:extLst>
          </p:cNvPr>
          <p:cNvSpPr/>
          <p:nvPr/>
        </p:nvSpPr>
        <p:spPr>
          <a:xfrm>
            <a:off x="7810500" y="2628900"/>
            <a:ext cx="76200" cy="9144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49EF93-E0A8-542A-814F-7F4A217F8107}"/>
              </a:ext>
            </a:extLst>
          </p:cNvPr>
          <p:cNvSpPr txBox="1"/>
          <p:nvPr/>
        </p:nvSpPr>
        <p:spPr>
          <a:xfrm>
            <a:off x="8064500" y="2819400"/>
            <a:ext cx="3225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1 · MoM</a:t>
            </a:r>
            <a:endParaRPr lang="ko-KR" altLang="en-US" sz="16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546A88-3A5A-4CCE-DE55-98E3653BCC03}"/>
              </a:ext>
            </a:extLst>
          </p:cNvPr>
          <p:cNvSpPr txBox="1"/>
          <p:nvPr/>
        </p:nvSpPr>
        <p:spPr>
          <a:xfrm>
            <a:off x="8064500" y="3251200"/>
            <a:ext cx="3225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4D586A"/>
                </a:solidFill>
                <a:latin typeface="Malgun Gothic" panose="020B0503020000020004" pitchFamily="50" charset="-127"/>
              </a:rPr>
              <a:t>최근 방향이 강세인지 약세인지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9A9EA0AB-6AA5-70BC-F8AC-F68ABCFA9CD8}"/>
              </a:ext>
            </a:extLst>
          </p:cNvPr>
          <p:cNvSpPr/>
          <p:nvPr/>
        </p:nvSpPr>
        <p:spPr>
          <a:xfrm>
            <a:off x="7810500" y="3708400"/>
            <a:ext cx="368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AA65DAC-9913-B8F2-1F12-FEBFA6A934C8}"/>
              </a:ext>
            </a:extLst>
          </p:cNvPr>
          <p:cNvSpPr/>
          <p:nvPr/>
        </p:nvSpPr>
        <p:spPr>
          <a:xfrm>
            <a:off x="7810500" y="3708400"/>
            <a:ext cx="76200" cy="9144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40D1EB-B96B-69E9-A253-CB65310988E8}"/>
              </a:ext>
            </a:extLst>
          </p:cNvPr>
          <p:cNvSpPr txBox="1"/>
          <p:nvPr/>
        </p:nvSpPr>
        <p:spPr>
          <a:xfrm>
            <a:off x="8064500" y="3898900"/>
            <a:ext cx="3225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2 · 52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주 위치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28C9E60-279D-B09E-6A78-069CD1651919}"/>
              </a:ext>
            </a:extLst>
          </p:cNvPr>
          <p:cNvSpPr txBox="1"/>
          <p:nvPr/>
        </p:nvSpPr>
        <p:spPr>
          <a:xfrm>
            <a:off x="8064500" y="4330700"/>
            <a:ext cx="3225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4D586A"/>
                </a:solidFill>
                <a:latin typeface="Malgun Gothic" panose="020B0503020000020004" pitchFamily="50" charset="-127"/>
              </a:rPr>
              <a:t>오늘 숫자가 </a:t>
            </a:r>
            <a:r>
              <a:rPr lang="en-US" altLang="ko-KR" sz="1200">
                <a:solidFill>
                  <a:srgbClr val="4D586A"/>
                </a:solidFill>
                <a:latin typeface="Malgun Gothic" panose="020B0503020000020004" pitchFamily="50" charset="-127"/>
              </a:rPr>
              <a:t>1</a:t>
            </a:r>
            <a:r>
              <a:rPr lang="ko-KR" altLang="en-US" sz="1200">
                <a:solidFill>
                  <a:srgbClr val="4D586A"/>
                </a:solidFill>
                <a:latin typeface="Malgun Gothic" panose="020B0503020000020004" pitchFamily="50" charset="-127"/>
              </a:rPr>
              <a:t>년 중 높은지 낮은지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93798C3-2025-8F25-262A-A70DBCA604DC}"/>
              </a:ext>
            </a:extLst>
          </p:cNvPr>
          <p:cNvSpPr/>
          <p:nvPr/>
        </p:nvSpPr>
        <p:spPr>
          <a:xfrm>
            <a:off x="7810500" y="4787900"/>
            <a:ext cx="36830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FBCF5F-FB15-0856-9F63-AEBB74A6926B}"/>
              </a:ext>
            </a:extLst>
          </p:cNvPr>
          <p:cNvSpPr/>
          <p:nvPr/>
        </p:nvSpPr>
        <p:spPr>
          <a:xfrm>
            <a:off x="7810500" y="4787900"/>
            <a:ext cx="76200" cy="9144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AADCA5-3713-7757-61C1-FE41907B4B6A}"/>
              </a:ext>
            </a:extLst>
          </p:cNvPr>
          <p:cNvSpPr txBox="1"/>
          <p:nvPr/>
        </p:nvSpPr>
        <p:spPr>
          <a:xfrm>
            <a:off x="8064500" y="4978400"/>
            <a:ext cx="3225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3 · 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계획 대비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5B29F9-6D3F-A68C-8735-50A6190D899F}"/>
              </a:ext>
            </a:extLst>
          </p:cNvPr>
          <p:cNvSpPr txBox="1"/>
          <p:nvPr/>
        </p:nvSpPr>
        <p:spPr>
          <a:xfrm>
            <a:off x="8064500" y="5410200"/>
            <a:ext cx="32258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4D586A"/>
                </a:solidFill>
                <a:latin typeface="Malgun Gothic" panose="020B0503020000020004" pitchFamily="50" charset="-127"/>
              </a:rPr>
              <a:t>시장 움직임을 회사의 계획과 연결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A4C51B-7D6D-1A25-E60A-79C1991C700E}"/>
              </a:ext>
            </a:extLst>
          </p:cNvPr>
          <p:cNvSpPr txBox="1"/>
          <p:nvPr/>
        </p:nvSpPr>
        <p:spPr>
          <a:xfrm>
            <a:off x="7797800" y="5905500"/>
            <a:ext cx="3810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 b="1">
                <a:solidFill>
                  <a:srgbClr val="172033"/>
                </a:solidFill>
                <a:latin typeface="Malgun Gothic" panose="020B0503020000020004" pitchFamily="50" charset="-127"/>
              </a:rPr>
              <a:t>검색과 계산에서 → “무엇을 먼저 볼까</a:t>
            </a:r>
            <a:r>
              <a:rPr lang="en-US" altLang="ko-KR" sz="1400" b="1">
                <a:solidFill>
                  <a:srgbClr val="172033"/>
                </a:solidFill>
                <a:latin typeface="Malgun Gothic" panose="020B0503020000020004" pitchFamily="50" charset="-127"/>
              </a:rPr>
              <a:t>?”</a:t>
            </a:r>
            <a:r>
              <a:rPr lang="ko-KR" altLang="en-US" sz="1400" b="1">
                <a:solidFill>
                  <a:srgbClr val="172033"/>
                </a:solidFill>
                <a:latin typeface="Malgun Gothic" panose="020B0503020000020004" pitchFamily="50" charset="-127"/>
              </a:rPr>
              <a:t>로</a:t>
            </a:r>
          </a:p>
        </p:txBody>
      </p:sp>
    </p:spTree>
    <p:extLst>
      <p:ext uri="{BB962C8B-B14F-4D97-AF65-F5344CB8AC3E}">
        <p14:creationId xmlns:p14="http://schemas.microsoft.com/office/powerpoint/2010/main" val="1345475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B7B2B4-5009-F624-F0FF-7E16082D7657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04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BDC1C7-8EBB-8EEF-66E1-767FA853B34E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7E4DE1-00AB-4A40-03D5-DBA06C8241FC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LatamFX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를 움직이는 연결 구조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D3E554-DE0F-F3B0-10D6-4CB6101BCB74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화면 하나가 아니라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각 역할이 이어져 하나의 업무 흐름을 만든다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4423443-4F7C-3166-7F5A-3E5BC4CB0C2F}"/>
              </a:ext>
            </a:extLst>
          </p:cNvPr>
          <p:cNvCxnSpPr/>
          <p:nvPr/>
        </p:nvCxnSpPr>
        <p:spPr>
          <a:xfrm>
            <a:off x="1778000" y="3124200"/>
            <a:ext cx="0" cy="584200"/>
          </a:xfrm>
          <a:prstGeom prst="line">
            <a:avLst/>
          </a:prstGeom>
          <a:ln w="25400">
            <a:solidFill>
              <a:srgbClr val="355F8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0502D508-38C6-7239-3EFA-DC82138FAF86}"/>
              </a:ext>
            </a:extLst>
          </p:cNvPr>
          <p:cNvSpPr/>
          <p:nvPr/>
        </p:nvSpPr>
        <p:spPr>
          <a:xfrm>
            <a:off x="1917700" y="3251200"/>
            <a:ext cx="9144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환율 제공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07691811-F6F5-6F2A-B573-A247B81BA1CD}"/>
              </a:ext>
            </a:extLst>
          </p:cNvPr>
          <p:cNvCxnSpPr/>
          <p:nvPr/>
        </p:nvCxnSpPr>
        <p:spPr>
          <a:xfrm flipV="1">
            <a:off x="2921000" y="2832100"/>
            <a:ext cx="1968500" cy="1384300"/>
          </a:xfrm>
          <a:prstGeom prst="line">
            <a:avLst/>
          </a:prstGeom>
          <a:ln w="25400">
            <a:solidFill>
              <a:srgbClr val="3D728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CA95FAC3-CE01-9264-71E3-7ED757BE60AB}"/>
              </a:ext>
            </a:extLst>
          </p:cNvPr>
          <p:cNvSpPr/>
          <p:nvPr/>
        </p:nvSpPr>
        <p:spPr>
          <a:xfrm>
            <a:off x="3365500" y="3302000"/>
            <a:ext cx="13335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코드</a:t>
            </a:r>
            <a:r>
              <a:rPr lang="en-US" altLang="ko-KR" sz="900" b="1">
                <a:solidFill>
                  <a:srgbClr val="69738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데이터 저장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10A31EE-61C7-D079-DCA8-2F8FFE94463B}"/>
              </a:ext>
            </a:extLst>
          </p:cNvPr>
          <p:cNvCxnSpPr/>
          <p:nvPr/>
        </p:nvCxnSpPr>
        <p:spPr>
          <a:xfrm>
            <a:off x="7175500" y="2565400"/>
            <a:ext cx="2159000" cy="203200"/>
          </a:xfrm>
          <a:prstGeom prst="line">
            <a:avLst/>
          </a:prstGeom>
          <a:ln w="25400">
            <a:solidFill>
              <a:srgbClr val="2473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C4D5C90-44A5-A091-CFAC-FB97F9CC009B}"/>
              </a:ext>
            </a:extLst>
          </p:cNvPr>
          <p:cNvSpPr/>
          <p:nvPr/>
        </p:nvSpPr>
        <p:spPr>
          <a:xfrm>
            <a:off x="7810500" y="2349500"/>
            <a:ext cx="9525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자동 배포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74FE7E9-671E-5C0A-3A0A-FC96295CA002}"/>
              </a:ext>
            </a:extLst>
          </p:cNvPr>
          <p:cNvCxnSpPr/>
          <p:nvPr/>
        </p:nvCxnSpPr>
        <p:spPr>
          <a:xfrm flipH="1">
            <a:off x="7493000" y="3200400"/>
            <a:ext cx="1841500" cy="622300"/>
          </a:xfrm>
          <a:prstGeom prst="line">
            <a:avLst/>
          </a:prstGeom>
          <a:ln w="25400">
            <a:solidFill>
              <a:srgbClr val="2473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EFEAC61-8D33-1FB5-2976-BC23C8BB3762}"/>
              </a:ext>
            </a:extLst>
          </p:cNvPr>
          <p:cNvSpPr/>
          <p:nvPr/>
        </p:nvSpPr>
        <p:spPr>
          <a:xfrm>
            <a:off x="7975600" y="3390900"/>
            <a:ext cx="11430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웹사이트 제공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B762FFE-DEDF-23BC-D604-D978F1203D5E}"/>
              </a:ext>
            </a:extLst>
          </p:cNvPr>
          <p:cNvCxnSpPr/>
          <p:nvPr/>
        </p:nvCxnSpPr>
        <p:spPr>
          <a:xfrm>
            <a:off x="7429500" y="4241800"/>
            <a:ext cx="1905000" cy="368300"/>
          </a:xfrm>
          <a:prstGeom prst="line">
            <a:avLst/>
          </a:prstGeom>
          <a:ln w="25400">
            <a:solidFill>
              <a:srgbClr val="765C7D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AEA68B0-BD9F-3D7C-1634-26FC1CA481D5}"/>
              </a:ext>
            </a:extLst>
          </p:cNvPr>
          <p:cNvSpPr/>
          <p:nvPr/>
        </p:nvSpPr>
        <p:spPr>
          <a:xfrm>
            <a:off x="7975600" y="4279900"/>
            <a:ext cx="12700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계획 저장</a:t>
            </a:r>
            <a:r>
              <a:rPr lang="en-US" altLang="ko-KR" sz="900" b="1">
                <a:solidFill>
                  <a:srgbClr val="69738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조회</a:t>
            </a: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4D52837-F309-38ED-277F-70111FC2DC6D}"/>
              </a:ext>
            </a:extLst>
          </p:cNvPr>
          <p:cNvCxnSpPr/>
          <p:nvPr/>
        </p:nvCxnSpPr>
        <p:spPr>
          <a:xfrm>
            <a:off x="2921000" y="4521200"/>
            <a:ext cx="635000" cy="901700"/>
          </a:xfrm>
          <a:prstGeom prst="line">
            <a:avLst/>
          </a:prstGeom>
          <a:ln w="25400">
            <a:solidFill>
              <a:srgbClr val="A56A3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B1E33A-5929-B950-7BB1-00D2B2E7D031}"/>
              </a:ext>
            </a:extLst>
          </p:cNvPr>
          <p:cNvSpPr/>
          <p:nvPr/>
        </p:nvSpPr>
        <p:spPr>
          <a:xfrm>
            <a:off x="2476500" y="4889500"/>
            <a:ext cx="10668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리포트 생성</a:t>
            </a: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847DFBE4-0717-58A2-51A5-AE28ADC5C937}"/>
              </a:ext>
            </a:extLst>
          </p:cNvPr>
          <p:cNvCxnSpPr/>
          <p:nvPr/>
        </p:nvCxnSpPr>
        <p:spPr>
          <a:xfrm>
            <a:off x="5397500" y="5702300"/>
            <a:ext cx="952500" cy="0"/>
          </a:xfrm>
          <a:prstGeom prst="line">
            <a:avLst/>
          </a:prstGeom>
          <a:ln w="25400">
            <a:solidFill>
              <a:srgbClr val="A56A3A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31C29E-3CFC-3D55-95F4-88F975D619B3}"/>
              </a:ext>
            </a:extLst>
          </p:cNvPr>
          <p:cNvSpPr/>
          <p:nvPr/>
        </p:nvSpPr>
        <p:spPr>
          <a:xfrm>
            <a:off x="5397500" y="5359400"/>
            <a:ext cx="10414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리포트 전달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08B0EC2-0BBE-983C-3153-348975EB8390}"/>
              </a:ext>
            </a:extLst>
          </p:cNvPr>
          <p:cNvCxnSpPr/>
          <p:nvPr/>
        </p:nvCxnSpPr>
        <p:spPr>
          <a:xfrm>
            <a:off x="6096000" y="4521200"/>
            <a:ext cx="1079500" cy="749300"/>
          </a:xfrm>
          <a:prstGeom prst="line">
            <a:avLst/>
          </a:prstGeom>
          <a:ln w="25400">
            <a:solidFill>
              <a:srgbClr val="24736B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5B94359-A287-0589-245F-A971FEA7908A}"/>
              </a:ext>
            </a:extLst>
          </p:cNvPr>
          <p:cNvSpPr/>
          <p:nvPr/>
        </p:nvSpPr>
        <p:spPr>
          <a:xfrm>
            <a:off x="6261100" y="4749800"/>
            <a:ext cx="889000" cy="254000"/>
          </a:xfrm>
          <a:prstGeom prst="roundRect">
            <a:avLst/>
          </a:prstGeom>
          <a:solidFill>
            <a:srgbClr val="F6F3E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900" b="1">
                <a:solidFill>
                  <a:srgbClr val="697386"/>
                </a:solidFill>
                <a:latin typeface="Malgun Gothic" panose="020B0503020000020004" pitchFamily="50" charset="-127"/>
              </a:rPr>
              <a:t>화면 확인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173CA6B-5178-B378-16F0-040C0CA39887}"/>
              </a:ext>
            </a:extLst>
          </p:cNvPr>
          <p:cNvSpPr/>
          <p:nvPr/>
        </p:nvSpPr>
        <p:spPr>
          <a:xfrm>
            <a:off x="571500" y="2222500"/>
            <a:ext cx="241300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7B6B06E-A8BE-558E-6B0F-D82CF360852D}"/>
              </a:ext>
            </a:extLst>
          </p:cNvPr>
          <p:cNvSpPr/>
          <p:nvPr/>
        </p:nvSpPr>
        <p:spPr>
          <a:xfrm>
            <a:off x="571500" y="2222500"/>
            <a:ext cx="76200" cy="9144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EAFD8-DAF0-55AA-39B9-E7744458D9F1}"/>
              </a:ext>
            </a:extLst>
          </p:cNvPr>
          <p:cNvSpPr txBox="1"/>
          <p:nvPr/>
        </p:nvSpPr>
        <p:spPr>
          <a:xfrm>
            <a:off x="774700" y="2387600"/>
            <a:ext cx="2006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환율 제공처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4BB565-4242-663B-B9A0-5DF39BA29934}"/>
              </a:ext>
            </a:extLst>
          </p:cNvPr>
          <p:cNvSpPr txBox="1"/>
          <p:nvPr/>
        </p:nvSpPr>
        <p:spPr>
          <a:xfrm>
            <a:off x="749300" y="27559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원천 환율 제공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941EB5D-BDFB-C577-EE4F-0D23F9D1B616}"/>
              </a:ext>
            </a:extLst>
          </p:cNvPr>
          <p:cNvSpPr/>
          <p:nvPr/>
        </p:nvSpPr>
        <p:spPr>
          <a:xfrm>
            <a:off x="571500" y="37211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125BACC-ACD3-B235-B72B-D441B91BF579}"/>
              </a:ext>
            </a:extLst>
          </p:cNvPr>
          <p:cNvSpPr/>
          <p:nvPr/>
        </p:nvSpPr>
        <p:spPr>
          <a:xfrm>
            <a:off x="571500" y="3721100"/>
            <a:ext cx="76200" cy="1041400"/>
          </a:xfrm>
          <a:prstGeom prst="rect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BC1357-C0A9-0E83-8727-091A0DD0013D}"/>
              </a:ext>
            </a:extLst>
          </p:cNvPr>
          <p:cNvSpPr txBox="1"/>
          <p:nvPr/>
        </p:nvSpPr>
        <p:spPr>
          <a:xfrm>
            <a:off x="774700" y="3886200"/>
            <a:ext cx="2006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GitHub Actions</a:t>
            </a:r>
            <a:endParaRPr lang="ko-KR" altLang="en-US" sz="15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AF9465-F665-25B0-0412-C006FE511554}"/>
              </a:ext>
            </a:extLst>
          </p:cNvPr>
          <p:cNvSpPr txBox="1"/>
          <p:nvPr/>
        </p:nvSpPr>
        <p:spPr>
          <a:xfrm>
            <a:off x="749300" y="42545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매일 수집</a:t>
            </a:r>
            <a:r>
              <a:rPr lang="en-US" altLang="ko-KR" sz="10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계산</a:t>
            </a:r>
            <a:r>
              <a:rPr lang="en-US" altLang="ko-KR" sz="10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갱신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31E8186B-B71B-7292-C088-39A9028515FD}"/>
              </a:ext>
            </a:extLst>
          </p:cNvPr>
          <p:cNvSpPr/>
          <p:nvPr/>
        </p:nvSpPr>
        <p:spPr>
          <a:xfrm>
            <a:off x="4889500" y="2082800"/>
            <a:ext cx="2286000" cy="990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7E34684-8614-E994-E36A-1E8655C5A1D7}"/>
              </a:ext>
            </a:extLst>
          </p:cNvPr>
          <p:cNvSpPr/>
          <p:nvPr/>
        </p:nvSpPr>
        <p:spPr>
          <a:xfrm>
            <a:off x="4889500" y="2082800"/>
            <a:ext cx="76200" cy="9906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FBEED27-76BF-D4A5-C3B7-422CD1BD2792}"/>
              </a:ext>
            </a:extLst>
          </p:cNvPr>
          <p:cNvSpPr txBox="1"/>
          <p:nvPr/>
        </p:nvSpPr>
        <p:spPr>
          <a:xfrm>
            <a:off x="5092700" y="2247900"/>
            <a:ext cx="1879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GitHub</a:t>
            </a:r>
            <a:endParaRPr lang="ko-KR" altLang="en-US" sz="15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4126CF9-2B14-168F-9860-B9E437C3FC97}"/>
              </a:ext>
            </a:extLst>
          </p:cNvPr>
          <p:cNvSpPr txBox="1"/>
          <p:nvPr/>
        </p:nvSpPr>
        <p:spPr>
          <a:xfrm>
            <a:off x="5067300" y="26162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앱 코드 </a:t>
            </a:r>
            <a:r>
              <a:rPr lang="en-US" altLang="ko-KR" sz="1000">
                <a:solidFill>
                  <a:srgbClr val="4D586A"/>
                </a:solidFill>
                <a:latin typeface="Malgun Gothic" panose="020B0503020000020004" pitchFamily="50" charset="-127"/>
              </a:rPr>
              <a:t>+ </a:t>
            </a:r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환율 데이터 저장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D0857D40-4182-8D23-CA02-2FC06D324172}"/>
              </a:ext>
            </a:extLst>
          </p:cNvPr>
          <p:cNvSpPr/>
          <p:nvPr/>
        </p:nvSpPr>
        <p:spPr>
          <a:xfrm>
            <a:off x="9334500" y="2260600"/>
            <a:ext cx="2286000" cy="990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9DEFA5B-F1EE-3DDE-207E-D76ADFD67A21}"/>
              </a:ext>
            </a:extLst>
          </p:cNvPr>
          <p:cNvSpPr/>
          <p:nvPr/>
        </p:nvSpPr>
        <p:spPr>
          <a:xfrm>
            <a:off x="9334500" y="2260600"/>
            <a:ext cx="76200" cy="9906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3805B19-75FA-47ED-B0D3-2FF179E80718}"/>
              </a:ext>
            </a:extLst>
          </p:cNvPr>
          <p:cNvSpPr txBox="1"/>
          <p:nvPr/>
        </p:nvSpPr>
        <p:spPr>
          <a:xfrm>
            <a:off x="9537700" y="2425700"/>
            <a:ext cx="1879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Netlify</a:t>
            </a:r>
            <a:endParaRPr lang="ko-KR" altLang="en-US" sz="15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0A75AE-F850-396D-8960-733CFEE40F6A}"/>
              </a:ext>
            </a:extLst>
          </p:cNvPr>
          <p:cNvSpPr txBox="1"/>
          <p:nvPr/>
        </p:nvSpPr>
        <p:spPr>
          <a:xfrm>
            <a:off x="9512300" y="27940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앱을 웹사이트로 자동 배포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6093A6D-D174-1B97-9BBD-74E7B34E9497}"/>
              </a:ext>
            </a:extLst>
          </p:cNvPr>
          <p:cNvSpPr/>
          <p:nvPr/>
        </p:nvSpPr>
        <p:spPr>
          <a:xfrm>
            <a:off x="4635500" y="3403600"/>
            <a:ext cx="2857500" cy="1143000"/>
          </a:xfrm>
          <a:prstGeom prst="roundRect">
            <a:avLst/>
          </a:prstGeom>
          <a:solidFill>
            <a:srgbClr val="172033"/>
          </a:solidFill>
          <a:ln w="15875">
            <a:solidFill>
              <a:srgbClr val="1720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4EE502-E53A-4A29-FA0C-D962F60EE6F1}"/>
              </a:ext>
            </a:extLst>
          </p:cNvPr>
          <p:cNvSpPr txBox="1"/>
          <p:nvPr/>
        </p:nvSpPr>
        <p:spPr>
          <a:xfrm>
            <a:off x="4838700" y="3568700"/>
            <a:ext cx="24511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LatamFX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28181F3-3FBE-57B7-7464-92E06AF216ED}"/>
              </a:ext>
            </a:extLst>
          </p:cNvPr>
          <p:cNvSpPr txBox="1"/>
          <p:nvPr/>
        </p:nvSpPr>
        <p:spPr>
          <a:xfrm>
            <a:off x="4813300" y="3937000"/>
            <a:ext cx="25019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DCE4EA"/>
                </a:solidFill>
                <a:latin typeface="Malgun Gothic" panose="020B0503020000020004" pitchFamily="50" charset="-127"/>
              </a:rPr>
              <a:t>계산</a:t>
            </a:r>
            <a:r>
              <a:rPr lang="en-US" altLang="ko-KR" sz="1000">
                <a:solidFill>
                  <a:srgbClr val="DCE4E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DCE4EA"/>
                </a:solidFill>
                <a:latin typeface="Malgun Gothic" panose="020B0503020000020004" pitchFamily="50" charset="-127"/>
              </a:rPr>
              <a:t>비교하고 판단하기 쉽게 보여주는 업무 화면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C2F4D2B-7BAB-27C9-B225-20C12893D9F8}"/>
              </a:ext>
            </a:extLst>
          </p:cNvPr>
          <p:cNvSpPr/>
          <p:nvPr/>
        </p:nvSpPr>
        <p:spPr>
          <a:xfrm>
            <a:off x="9334500" y="4140200"/>
            <a:ext cx="2286000" cy="990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3F9C48A1-EEDA-7AE4-AF92-13B8E3029BF8}"/>
              </a:ext>
            </a:extLst>
          </p:cNvPr>
          <p:cNvSpPr/>
          <p:nvPr/>
        </p:nvSpPr>
        <p:spPr>
          <a:xfrm>
            <a:off x="9334500" y="4140200"/>
            <a:ext cx="76200" cy="9906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B1C00C-AED0-2301-77FA-592BB34BB8DA}"/>
              </a:ext>
            </a:extLst>
          </p:cNvPr>
          <p:cNvSpPr txBox="1"/>
          <p:nvPr/>
        </p:nvSpPr>
        <p:spPr>
          <a:xfrm>
            <a:off x="9537700" y="4305300"/>
            <a:ext cx="1879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Supabase</a:t>
            </a:r>
            <a:endParaRPr lang="ko-KR" altLang="en-US" sz="15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CEE2B0-20F4-4418-5582-247C8F60E3B1}"/>
              </a:ext>
            </a:extLst>
          </p:cNvPr>
          <p:cNvSpPr txBox="1"/>
          <p:nvPr/>
        </p:nvSpPr>
        <p:spPr>
          <a:xfrm>
            <a:off x="9512300" y="4673600"/>
            <a:ext cx="1930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계획 환율</a:t>
            </a:r>
            <a:r>
              <a:rPr lang="en-US" altLang="ko-KR" sz="10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로그인</a:t>
            </a:r>
            <a:r>
              <a:rPr lang="en-US" altLang="ko-KR" sz="10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수정 권한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FEF8F38-8F45-A37C-96FC-EB346A34365C}"/>
              </a:ext>
            </a:extLst>
          </p:cNvPr>
          <p:cNvSpPr/>
          <p:nvPr/>
        </p:nvSpPr>
        <p:spPr>
          <a:xfrm>
            <a:off x="3238500" y="5257800"/>
            <a:ext cx="222250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E79A7EC0-3C8A-E7F2-8E7B-370F6ED5CEFB}"/>
              </a:ext>
            </a:extLst>
          </p:cNvPr>
          <p:cNvSpPr/>
          <p:nvPr/>
        </p:nvSpPr>
        <p:spPr>
          <a:xfrm>
            <a:off x="3238500" y="5257800"/>
            <a:ext cx="76200" cy="9144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CC132D-D0C5-29FB-1527-1A2DC4222CCB}"/>
              </a:ext>
            </a:extLst>
          </p:cNvPr>
          <p:cNvSpPr txBox="1"/>
          <p:nvPr/>
        </p:nvSpPr>
        <p:spPr>
          <a:xfrm>
            <a:off x="3441700" y="5422900"/>
            <a:ext cx="18161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이메일 리포트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99B187-A1BB-ADB4-3AC1-9A212CA768B0}"/>
              </a:ext>
            </a:extLst>
          </p:cNvPr>
          <p:cNvSpPr txBox="1"/>
          <p:nvPr/>
        </p:nvSpPr>
        <p:spPr>
          <a:xfrm>
            <a:off x="3416300" y="5791200"/>
            <a:ext cx="18669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정리된 환율 정보를 자동 전달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09DC537-1443-2C6D-B20A-BEA40051CE1B}"/>
              </a:ext>
            </a:extLst>
          </p:cNvPr>
          <p:cNvSpPr/>
          <p:nvPr/>
        </p:nvSpPr>
        <p:spPr>
          <a:xfrm>
            <a:off x="6350000" y="5257800"/>
            <a:ext cx="241300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E72FBB-D4AE-84D6-833A-53E7793493F7}"/>
              </a:ext>
            </a:extLst>
          </p:cNvPr>
          <p:cNvSpPr/>
          <p:nvPr/>
        </p:nvSpPr>
        <p:spPr>
          <a:xfrm>
            <a:off x="6350000" y="5257800"/>
            <a:ext cx="76200" cy="9144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66EB7D-5B78-E1C2-B048-53F53C1D110B}"/>
              </a:ext>
            </a:extLst>
          </p:cNvPr>
          <p:cNvSpPr txBox="1"/>
          <p:nvPr/>
        </p:nvSpPr>
        <p:spPr>
          <a:xfrm>
            <a:off x="6553200" y="5422900"/>
            <a:ext cx="2006600" cy="2308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500" b="1">
                <a:solidFill>
                  <a:srgbClr val="172033"/>
                </a:solidFill>
                <a:latin typeface="Malgun Gothic" panose="020B0503020000020004" pitchFamily="50" charset="-127"/>
              </a:rPr>
              <a:t>현업 사용자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0482AB-6948-84A3-614B-50F7ECB0E64A}"/>
              </a:ext>
            </a:extLst>
          </p:cNvPr>
          <p:cNvSpPr txBox="1"/>
          <p:nvPr/>
        </p:nvSpPr>
        <p:spPr>
          <a:xfrm>
            <a:off x="6527800" y="5791200"/>
            <a:ext cx="20574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000">
                <a:solidFill>
                  <a:srgbClr val="4D586A"/>
                </a:solidFill>
                <a:latin typeface="Malgun Gothic" panose="020B0503020000020004" pitchFamily="50" charset="-127"/>
              </a:rPr>
              <a:t>같은 기준으로 확인하고 최종 판단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864C180-93A2-ADCB-98ED-F49C3E0E0903}"/>
              </a:ext>
            </a:extLst>
          </p:cNvPr>
          <p:cNvSpPr txBox="1"/>
          <p:nvPr/>
        </p:nvSpPr>
        <p:spPr>
          <a:xfrm>
            <a:off x="711200" y="6413500"/>
            <a:ext cx="8255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LatamFX AX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사례 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데이터 수집 → 계산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저장 → 배포 → 확인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전달</a:t>
            </a:r>
          </a:p>
        </p:txBody>
      </p:sp>
    </p:spTree>
    <p:extLst>
      <p:ext uri="{BB962C8B-B14F-4D97-AF65-F5344CB8AC3E}">
        <p14:creationId xmlns:p14="http://schemas.microsoft.com/office/powerpoint/2010/main" val="2017237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D98D87-5F35-B086-93A0-F06F0C369CA7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05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E77EA-1040-6F1A-DA75-759DF304D024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282562-5648-CF6E-2214-B10AE940F296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만들면서 발견한 </a:t>
            </a:r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의 네 가지 조건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D2AF0E-FB30-4AF3-A3E2-5CA526E87757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시제품이 실제 업무가 되려면 네 요소가 함께 맞아야 한다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83D3577-1D96-4D32-30A3-987C72690539}"/>
              </a:ext>
            </a:extLst>
          </p:cNvPr>
          <p:cNvSpPr/>
          <p:nvPr/>
        </p:nvSpPr>
        <p:spPr>
          <a:xfrm>
            <a:off x="762000" y="2159000"/>
            <a:ext cx="25400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4776B0D-691D-ABDF-62E6-1E212D99FC19}"/>
              </a:ext>
            </a:extLst>
          </p:cNvPr>
          <p:cNvSpPr/>
          <p:nvPr/>
        </p:nvSpPr>
        <p:spPr>
          <a:xfrm>
            <a:off x="762000" y="2159000"/>
            <a:ext cx="76200" cy="27940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FDAEC-FAD2-67A6-B392-B9834E7F4A38}"/>
              </a:ext>
            </a:extLst>
          </p:cNvPr>
          <p:cNvSpPr txBox="1"/>
          <p:nvPr/>
        </p:nvSpPr>
        <p:spPr>
          <a:xfrm>
            <a:off x="1016000" y="2349500"/>
            <a:ext cx="2082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문제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7347CB-13CC-FBE0-F6EF-BEC8F96FC56E}"/>
              </a:ext>
            </a:extLst>
          </p:cNvPr>
          <p:cNvSpPr txBox="1"/>
          <p:nvPr/>
        </p:nvSpPr>
        <p:spPr>
          <a:xfrm>
            <a:off x="1016000" y="2781300"/>
            <a:ext cx="20828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화면 하나가 아니라 입력부터 판단과 공유까지 전체 업무 흐름을 본다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6769B12-3074-D9B9-A40C-29A5AB8521EB}"/>
              </a:ext>
            </a:extLst>
          </p:cNvPr>
          <p:cNvSpPr/>
          <p:nvPr/>
        </p:nvSpPr>
        <p:spPr>
          <a:xfrm>
            <a:off x="3467100" y="2159000"/>
            <a:ext cx="25400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ED4C558-77EC-CEE6-9C89-6AB4C2A3F89D}"/>
              </a:ext>
            </a:extLst>
          </p:cNvPr>
          <p:cNvSpPr/>
          <p:nvPr/>
        </p:nvSpPr>
        <p:spPr>
          <a:xfrm>
            <a:off x="3467100" y="2159000"/>
            <a:ext cx="76200" cy="2794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0CBC49-711F-3E7E-23E4-6E463D698F1A}"/>
              </a:ext>
            </a:extLst>
          </p:cNvPr>
          <p:cNvSpPr txBox="1"/>
          <p:nvPr/>
        </p:nvSpPr>
        <p:spPr>
          <a:xfrm>
            <a:off x="3721100" y="2349500"/>
            <a:ext cx="2082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데이터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DBC633-6617-9BE2-689B-569A09B9E756}"/>
              </a:ext>
            </a:extLst>
          </p:cNvPr>
          <p:cNvSpPr txBox="1"/>
          <p:nvPr/>
        </p:nvSpPr>
        <p:spPr>
          <a:xfrm>
            <a:off x="3721100" y="2781300"/>
            <a:ext cx="20828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출처와 정확성뿐 아니라 누락과 갱신 실패를 어떻게 발견할지 정한다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C2A6A92-3308-D1D3-3E98-EAF84C71D7AD}"/>
              </a:ext>
            </a:extLst>
          </p:cNvPr>
          <p:cNvSpPr/>
          <p:nvPr/>
        </p:nvSpPr>
        <p:spPr>
          <a:xfrm>
            <a:off x="6172200" y="2159000"/>
            <a:ext cx="25400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593B382-64E3-937B-13D8-34EACA7C85C5}"/>
              </a:ext>
            </a:extLst>
          </p:cNvPr>
          <p:cNvSpPr/>
          <p:nvPr/>
        </p:nvSpPr>
        <p:spPr>
          <a:xfrm>
            <a:off x="6172200" y="2159000"/>
            <a:ext cx="76200" cy="27940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D190F-962E-13F7-8CA8-628181FE99C8}"/>
              </a:ext>
            </a:extLst>
          </p:cNvPr>
          <p:cNvSpPr txBox="1"/>
          <p:nvPr/>
        </p:nvSpPr>
        <p:spPr>
          <a:xfrm>
            <a:off x="6426200" y="2349500"/>
            <a:ext cx="2082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판단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AD7523F-8FAD-1D04-E729-99B59599A2C1}"/>
              </a:ext>
            </a:extLst>
          </p:cNvPr>
          <p:cNvSpPr txBox="1"/>
          <p:nvPr/>
        </p:nvSpPr>
        <p:spPr>
          <a:xfrm>
            <a:off x="6426200" y="2781300"/>
            <a:ext cx="20828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모든 숫자를 보여주기보다 무엇을 먼저 보고 어떻게 비교할지 설계한다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BC710DA-671F-8663-D067-EB4EEBE640E5}"/>
              </a:ext>
            </a:extLst>
          </p:cNvPr>
          <p:cNvSpPr/>
          <p:nvPr/>
        </p:nvSpPr>
        <p:spPr>
          <a:xfrm>
            <a:off x="8877300" y="2159000"/>
            <a:ext cx="2540000" cy="279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D2592CF-B2C4-8822-63C7-80BC543818A9}"/>
              </a:ext>
            </a:extLst>
          </p:cNvPr>
          <p:cNvSpPr/>
          <p:nvPr/>
        </p:nvSpPr>
        <p:spPr>
          <a:xfrm>
            <a:off x="8877300" y="2159000"/>
            <a:ext cx="76200" cy="2794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10C53C5-244B-40D2-AC4B-B04740E8939E}"/>
              </a:ext>
            </a:extLst>
          </p:cNvPr>
          <p:cNvSpPr txBox="1"/>
          <p:nvPr/>
        </p:nvSpPr>
        <p:spPr>
          <a:xfrm>
            <a:off x="9131300" y="2349500"/>
            <a:ext cx="2082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운영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D23EC4-CCBE-3944-CB1A-45649CF5A8E1}"/>
              </a:ext>
            </a:extLst>
          </p:cNvPr>
          <p:cNvSpPr txBox="1"/>
          <p:nvPr/>
        </p:nvSpPr>
        <p:spPr>
          <a:xfrm>
            <a:off x="9131300" y="2781300"/>
            <a:ext cx="20828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담당자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권한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배포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장애 대응과 유지보수 책임을 정한다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4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5D51AA-128E-8209-A05D-9DDE408E0718}"/>
              </a:ext>
            </a:extLst>
          </p:cNvPr>
          <p:cNvSpPr txBox="1"/>
          <p:nvPr/>
        </p:nvSpPr>
        <p:spPr>
          <a:xfrm>
            <a:off x="1955800" y="5486400"/>
            <a:ext cx="8255000" cy="3693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문제 </a:t>
            </a:r>
            <a:r>
              <a:rPr lang="en-US" altLang="ko-KR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× </a:t>
            </a:r>
            <a:r>
              <a:rPr lang="ko-KR" altLang="en-US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데이터 </a:t>
            </a:r>
            <a:r>
              <a:rPr lang="en-US" altLang="ko-KR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× </a:t>
            </a:r>
            <a:r>
              <a:rPr lang="ko-KR" altLang="en-US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판단 </a:t>
            </a:r>
            <a:r>
              <a:rPr lang="en-US" altLang="ko-KR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× </a:t>
            </a:r>
            <a:r>
              <a:rPr lang="ko-KR" altLang="en-US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운영 </a:t>
            </a:r>
            <a:r>
              <a:rPr lang="en-US" altLang="ko-KR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= </a:t>
            </a:r>
            <a:r>
              <a:rPr lang="ko-KR" altLang="en-US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실제로 쓰이는 </a:t>
            </a:r>
            <a:r>
              <a:rPr lang="en-US" altLang="ko-KR" sz="24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endParaRPr lang="ko-KR" altLang="en-US" sz="24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782A2A-CD45-74C6-50A4-C67095848E7D}"/>
              </a:ext>
            </a:extLst>
          </p:cNvPr>
          <p:cNvSpPr txBox="1"/>
          <p:nvPr/>
        </p:nvSpPr>
        <p:spPr>
          <a:xfrm>
            <a:off x="711200" y="6413500"/>
            <a:ext cx="8255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LatamFX AX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사례 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프로토타입에서 업무로</a:t>
            </a:r>
          </a:p>
        </p:txBody>
      </p:sp>
    </p:spTree>
    <p:extLst>
      <p:ext uri="{BB962C8B-B14F-4D97-AF65-F5344CB8AC3E}">
        <p14:creationId xmlns:p14="http://schemas.microsoft.com/office/powerpoint/2010/main" val="5940873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8D8D94-C152-AD2E-14C8-D553F9233BDB}"/>
              </a:ext>
            </a:extLst>
          </p:cNvPr>
          <p:cNvSpPr txBox="1"/>
          <p:nvPr/>
        </p:nvSpPr>
        <p:spPr>
          <a:xfrm>
            <a:off x="685800" y="381000"/>
            <a:ext cx="44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200" b="1">
                <a:solidFill>
                  <a:srgbClr val="24736B"/>
                </a:solidFill>
                <a:latin typeface="Malgun Gothic" panose="020B0503020000020004" pitchFamily="50" charset="-127"/>
              </a:rPr>
              <a:t>06</a:t>
            </a:r>
            <a:endParaRPr lang="ko-KR" altLang="en-US" sz="1200" b="1">
              <a:solidFill>
                <a:srgbClr val="24736B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9FB085-E522-2A52-ABF8-91210D413999}"/>
              </a:ext>
            </a:extLst>
          </p:cNvPr>
          <p:cNvSpPr txBox="1"/>
          <p:nvPr/>
        </p:nvSpPr>
        <p:spPr>
          <a:xfrm>
            <a:off x="1168400" y="381000"/>
            <a:ext cx="2286000" cy="1538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000" b="1">
                <a:solidFill>
                  <a:srgbClr val="697386"/>
                </a:solidFill>
                <a:latin typeface="Malgun Gothic" panose="020B0503020000020004" pitchFamily="50" charset="-127"/>
              </a:rPr>
              <a:t>AX CASE STUDY</a:t>
            </a:r>
            <a:endParaRPr lang="ko-KR" altLang="en-US" sz="1000" b="1">
              <a:solidFill>
                <a:srgbClr val="697386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58E34D-D3FF-AB3D-E295-7C240C51B84B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회사에서 </a:t>
            </a:r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는 이렇게 진행되어야 한다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B76F97-5467-B21E-5FFB-AAD904FACCF1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큰 전략을 한 번에 완성하기보다 작은 검증을 운영 가능한 변화로 키운다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2E2A79C-714B-DA03-465C-D6A320CE7AFD}"/>
              </a:ext>
            </a:extLst>
          </p:cNvPr>
          <p:cNvSpPr/>
          <p:nvPr/>
        </p:nvSpPr>
        <p:spPr>
          <a:xfrm>
            <a:off x="1270000" y="2247900"/>
            <a:ext cx="482600" cy="482600"/>
          </a:xfrm>
          <a:prstGeom prst="ellipse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1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B0C0B1-5F98-C4EB-BAC0-ED8B2FD59265}"/>
              </a:ext>
            </a:extLst>
          </p:cNvPr>
          <p:cNvSpPr/>
          <p:nvPr/>
        </p:nvSpPr>
        <p:spPr>
          <a:xfrm>
            <a:off x="546100" y="2857500"/>
            <a:ext cx="1930400" cy="190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3E5D80F-7857-0140-0841-802B8CFE74DC}"/>
              </a:ext>
            </a:extLst>
          </p:cNvPr>
          <p:cNvSpPr/>
          <p:nvPr/>
        </p:nvSpPr>
        <p:spPr>
          <a:xfrm>
            <a:off x="546100" y="2857500"/>
            <a:ext cx="76200" cy="19050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B6046-3B0C-B193-ED57-0A606B92B7A0}"/>
              </a:ext>
            </a:extLst>
          </p:cNvPr>
          <p:cNvSpPr txBox="1"/>
          <p:nvPr/>
        </p:nvSpPr>
        <p:spPr>
          <a:xfrm>
            <a:off x="800100" y="3048000"/>
            <a:ext cx="14732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문제 정의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BC8BD6-B6FE-3E1C-50E2-495B8D91267B}"/>
              </a:ext>
            </a:extLst>
          </p:cNvPr>
          <p:cNvSpPr txBox="1"/>
          <p:nvPr/>
        </p:nvSpPr>
        <p:spPr>
          <a:xfrm>
            <a:off x="800100" y="3479800"/>
            <a:ext cx="14732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작고 구체적인</a:t>
            </a:r>
          </a:p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현업 문제 선택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A568AAF-AA9A-6A39-6AFE-D418A232409F}"/>
              </a:ext>
            </a:extLst>
          </p:cNvPr>
          <p:cNvCxnSpPr/>
          <p:nvPr/>
        </p:nvCxnSpPr>
        <p:spPr>
          <a:xfrm>
            <a:off x="2501900" y="3784600"/>
            <a:ext cx="4191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타원 11">
            <a:extLst>
              <a:ext uri="{FF2B5EF4-FFF2-40B4-BE49-F238E27FC236}">
                <a16:creationId xmlns:a16="http://schemas.microsoft.com/office/drawing/2014/main" id="{B55509BD-A2B8-8BBE-DD34-D305EBD9D167}"/>
              </a:ext>
            </a:extLst>
          </p:cNvPr>
          <p:cNvSpPr/>
          <p:nvPr/>
        </p:nvSpPr>
        <p:spPr>
          <a:xfrm>
            <a:off x="3606800" y="2247900"/>
            <a:ext cx="482600" cy="482600"/>
          </a:xfrm>
          <a:prstGeom prst="ellipse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2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4279866-03E4-4164-B060-0B5544C7DDA9}"/>
              </a:ext>
            </a:extLst>
          </p:cNvPr>
          <p:cNvSpPr/>
          <p:nvPr/>
        </p:nvSpPr>
        <p:spPr>
          <a:xfrm>
            <a:off x="2882900" y="2857500"/>
            <a:ext cx="1930400" cy="190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5983C5D-BF97-9625-4DCF-D3EEE7B6A1A5}"/>
              </a:ext>
            </a:extLst>
          </p:cNvPr>
          <p:cNvSpPr/>
          <p:nvPr/>
        </p:nvSpPr>
        <p:spPr>
          <a:xfrm>
            <a:off x="2882900" y="2857500"/>
            <a:ext cx="76200" cy="1905000"/>
          </a:xfrm>
          <a:prstGeom prst="rect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2E9E4-C738-206F-06F4-8A14AE60DF1F}"/>
              </a:ext>
            </a:extLst>
          </p:cNvPr>
          <p:cNvSpPr txBox="1"/>
          <p:nvPr/>
        </p:nvSpPr>
        <p:spPr>
          <a:xfrm>
            <a:off x="3136900" y="3048000"/>
            <a:ext cx="14732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작은 실험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2169A-599E-837C-15FB-6F9033BA4044}"/>
              </a:ext>
            </a:extLst>
          </p:cNvPr>
          <p:cNvSpPr txBox="1"/>
          <p:nvPr/>
        </p:nvSpPr>
        <p:spPr>
          <a:xfrm>
            <a:off x="3136900" y="3479800"/>
            <a:ext cx="14732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최소 기능으로</a:t>
            </a:r>
          </a:p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빠르게 시제품 제작</a:t>
            </a: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A2995F06-5474-ECA4-AE7F-65EC8CFAE852}"/>
              </a:ext>
            </a:extLst>
          </p:cNvPr>
          <p:cNvCxnSpPr/>
          <p:nvPr/>
        </p:nvCxnSpPr>
        <p:spPr>
          <a:xfrm>
            <a:off x="4838700" y="3784600"/>
            <a:ext cx="4191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60C16D3F-1B52-D4C7-C391-48507A2A0A40}"/>
              </a:ext>
            </a:extLst>
          </p:cNvPr>
          <p:cNvSpPr/>
          <p:nvPr/>
        </p:nvSpPr>
        <p:spPr>
          <a:xfrm>
            <a:off x="5943600" y="2247900"/>
            <a:ext cx="482600" cy="482600"/>
          </a:xfrm>
          <a:prstGeom prst="ellipse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3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1BA9509-CAF5-E5C9-F543-97115F60A9C5}"/>
              </a:ext>
            </a:extLst>
          </p:cNvPr>
          <p:cNvSpPr/>
          <p:nvPr/>
        </p:nvSpPr>
        <p:spPr>
          <a:xfrm>
            <a:off x="5219700" y="2857500"/>
            <a:ext cx="1930400" cy="190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BB9700CD-B3A4-ECE4-7571-C637A87289E8}"/>
              </a:ext>
            </a:extLst>
          </p:cNvPr>
          <p:cNvSpPr/>
          <p:nvPr/>
        </p:nvSpPr>
        <p:spPr>
          <a:xfrm>
            <a:off x="5219700" y="2857500"/>
            <a:ext cx="76200" cy="1905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6B4D48-DDE1-4569-7224-B0998DE5D99B}"/>
              </a:ext>
            </a:extLst>
          </p:cNvPr>
          <p:cNvSpPr txBox="1"/>
          <p:nvPr/>
        </p:nvSpPr>
        <p:spPr>
          <a:xfrm>
            <a:off x="5473700" y="3048000"/>
            <a:ext cx="14732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현업 검증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696DB0F-D933-7D60-34DC-63F50CEB3F46}"/>
              </a:ext>
            </a:extLst>
          </p:cNvPr>
          <p:cNvSpPr txBox="1"/>
          <p:nvPr/>
        </p:nvSpPr>
        <p:spPr>
          <a:xfrm>
            <a:off x="5473700" y="3479800"/>
            <a:ext cx="14732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실제 사용자와</a:t>
            </a:r>
          </a:p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예외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오류 발견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610F080-3D31-8962-B1B4-E4C4ED462308}"/>
              </a:ext>
            </a:extLst>
          </p:cNvPr>
          <p:cNvCxnSpPr/>
          <p:nvPr/>
        </p:nvCxnSpPr>
        <p:spPr>
          <a:xfrm>
            <a:off x="7175500" y="3784600"/>
            <a:ext cx="4191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타원 23">
            <a:extLst>
              <a:ext uri="{FF2B5EF4-FFF2-40B4-BE49-F238E27FC236}">
                <a16:creationId xmlns:a16="http://schemas.microsoft.com/office/drawing/2014/main" id="{C0945C60-ACDD-40EA-A57F-35A459B19C1E}"/>
              </a:ext>
            </a:extLst>
          </p:cNvPr>
          <p:cNvSpPr/>
          <p:nvPr/>
        </p:nvSpPr>
        <p:spPr>
          <a:xfrm>
            <a:off x="8280400" y="2247900"/>
            <a:ext cx="482600" cy="482600"/>
          </a:xfrm>
          <a:prstGeom prst="ellipse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4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29A7413-5AC1-B0BD-7453-4048D2013025}"/>
              </a:ext>
            </a:extLst>
          </p:cNvPr>
          <p:cNvSpPr/>
          <p:nvPr/>
        </p:nvSpPr>
        <p:spPr>
          <a:xfrm>
            <a:off x="7556500" y="2857500"/>
            <a:ext cx="1930400" cy="190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9632A8B-82E2-33BF-6A79-7FF5DBE14FA7}"/>
              </a:ext>
            </a:extLst>
          </p:cNvPr>
          <p:cNvSpPr/>
          <p:nvPr/>
        </p:nvSpPr>
        <p:spPr>
          <a:xfrm>
            <a:off x="7556500" y="2857500"/>
            <a:ext cx="76200" cy="19050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DCA205-FE6A-EAD2-D053-E465C7A7F257}"/>
              </a:ext>
            </a:extLst>
          </p:cNvPr>
          <p:cNvSpPr txBox="1"/>
          <p:nvPr/>
        </p:nvSpPr>
        <p:spPr>
          <a:xfrm>
            <a:off x="7810500" y="3048000"/>
            <a:ext cx="14732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효과 측정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9E20297-C7C9-9368-C0AA-273700B14568}"/>
              </a:ext>
            </a:extLst>
          </p:cNvPr>
          <p:cNvSpPr txBox="1"/>
          <p:nvPr/>
        </p:nvSpPr>
        <p:spPr>
          <a:xfrm>
            <a:off x="7810500" y="3479800"/>
            <a:ext cx="14732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시간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오류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판단</a:t>
            </a:r>
          </a:p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속도로 성과 확인</a:t>
            </a: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506211F2-CCFA-01C1-757A-390D09DBAA64}"/>
              </a:ext>
            </a:extLst>
          </p:cNvPr>
          <p:cNvCxnSpPr/>
          <p:nvPr/>
        </p:nvCxnSpPr>
        <p:spPr>
          <a:xfrm>
            <a:off x="9512300" y="3784600"/>
            <a:ext cx="4191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E002092B-9EC3-8931-02E2-D67F59FE7242}"/>
              </a:ext>
            </a:extLst>
          </p:cNvPr>
          <p:cNvSpPr/>
          <p:nvPr/>
        </p:nvSpPr>
        <p:spPr>
          <a:xfrm>
            <a:off x="10617200" y="2247900"/>
            <a:ext cx="482600" cy="482600"/>
          </a:xfrm>
          <a:prstGeom prst="ellipse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FFFFFF"/>
                </a:solidFill>
                <a:latin typeface="Malgun Gothic" panose="020B0503020000020004" pitchFamily="50" charset="-127"/>
              </a:rPr>
              <a:t>5</a:t>
            </a:r>
            <a:endParaRPr lang="ko-KR" altLang="en-US" sz="15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16208C36-B6A5-53F4-AF09-9693DE3067F8}"/>
              </a:ext>
            </a:extLst>
          </p:cNvPr>
          <p:cNvSpPr/>
          <p:nvPr/>
        </p:nvSpPr>
        <p:spPr>
          <a:xfrm>
            <a:off x="9893300" y="2857500"/>
            <a:ext cx="1930400" cy="1905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43DEAC2-8C0C-AD45-34CF-1D251CAF1B96}"/>
              </a:ext>
            </a:extLst>
          </p:cNvPr>
          <p:cNvSpPr/>
          <p:nvPr/>
        </p:nvSpPr>
        <p:spPr>
          <a:xfrm>
            <a:off x="9893300" y="2857500"/>
            <a:ext cx="76200" cy="1905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EF21E3F-070C-B429-DE52-59CFDA3FDE4B}"/>
              </a:ext>
            </a:extLst>
          </p:cNvPr>
          <p:cNvSpPr txBox="1"/>
          <p:nvPr/>
        </p:nvSpPr>
        <p:spPr>
          <a:xfrm>
            <a:off x="10147300" y="3048000"/>
            <a:ext cx="14732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운영</a:t>
            </a:r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확산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6BCD12-CF25-A5B2-DB51-70BEEEA83A7D}"/>
              </a:ext>
            </a:extLst>
          </p:cNvPr>
          <p:cNvSpPr txBox="1"/>
          <p:nvPr/>
        </p:nvSpPr>
        <p:spPr>
          <a:xfrm>
            <a:off x="10147300" y="3479800"/>
            <a:ext cx="14732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보안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권한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책임을</a:t>
            </a:r>
          </a:p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붙여 검증 과제 확산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EA83B3-2E97-0A74-22A3-61EB661D8B86}"/>
              </a:ext>
            </a:extLst>
          </p:cNvPr>
          <p:cNvSpPr txBox="1"/>
          <p:nvPr/>
        </p:nvSpPr>
        <p:spPr>
          <a:xfrm>
            <a:off x="1587500" y="5397500"/>
            <a:ext cx="9017000" cy="29238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“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를 사용했다”가 아니라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업무가 실제로 얼마나 좋아졌는가를 측정합니다</a:t>
            </a:r>
            <a:r>
              <a:rPr lang="en-US" altLang="ko-KR" sz="1900" b="1">
                <a:solidFill>
                  <a:srgbClr val="172033"/>
                </a:solidFill>
                <a:latin typeface="Malgun Gothic" panose="020B0503020000020004" pitchFamily="50" charset="-127"/>
              </a:rPr>
              <a:t>.</a:t>
            </a:r>
            <a:endParaRPr lang="ko-KR" altLang="en-US" sz="1900" b="1">
              <a:solidFill>
                <a:srgbClr val="172033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689EB6-44A6-EB88-2F72-65317086832A}"/>
              </a:ext>
            </a:extLst>
          </p:cNvPr>
          <p:cNvSpPr txBox="1"/>
          <p:nvPr/>
        </p:nvSpPr>
        <p:spPr>
          <a:xfrm>
            <a:off x="711200" y="6413500"/>
            <a:ext cx="8255000" cy="1384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LatamFX AX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사례 </a:t>
            </a:r>
            <a:r>
              <a:rPr lang="en-US" altLang="ko-KR" sz="900">
                <a:solidFill>
                  <a:srgbClr val="8A919E"/>
                </a:solidFill>
                <a:latin typeface="Malgun Gothic" panose="020B0503020000020004" pitchFamily="50" charset="-127"/>
              </a:rPr>
              <a:t>· </a:t>
            </a:r>
            <a:r>
              <a:rPr lang="ko-KR" altLang="en-US" sz="900">
                <a:solidFill>
                  <a:srgbClr val="8A919E"/>
                </a:solidFill>
                <a:latin typeface="Malgun Gothic" panose="020B0503020000020004" pitchFamily="50" charset="-127"/>
              </a:rPr>
              <a:t>조직의 실행 방식</a:t>
            </a:r>
          </a:p>
        </p:txBody>
      </p:sp>
    </p:spTree>
    <p:extLst>
      <p:ext uri="{BB962C8B-B14F-4D97-AF65-F5344CB8AC3E}">
        <p14:creationId xmlns:p14="http://schemas.microsoft.com/office/powerpoint/2010/main" val="3827071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B01CDF61-51AB-E3B6-01DE-77B29165DE57}"/>
              </a:ext>
            </a:extLst>
          </p:cNvPr>
          <p:cNvSpPr/>
          <p:nvPr/>
        </p:nvSpPr>
        <p:spPr>
          <a:xfrm>
            <a:off x="736600" y="609600"/>
            <a:ext cx="3873500" cy="355600"/>
          </a:xfrm>
          <a:prstGeom prst="round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FROM PERSONAL EXPERIMENT TO ORGANIZATIONAL AX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04AA3E-8A02-70F5-6017-0C16AD424DAF}"/>
              </a:ext>
            </a:extLst>
          </p:cNvPr>
          <p:cNvSpPr txBox="1"/>
          <p:nvPr/>
        </p:nvSpPr>
        <p:spPr>
          <a:xfrm>
            <a:off x="736600" y="1511300"/>
            <a:ext cx="9652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FFFFFF"/>
                </a:solidFill>
                <a:latin typeface="Malgun Gothic" panose="020B0503020000020004" pitchFamily="50" charset="-127"/>
              </a:rPr>
              <a:t>모든 직원이 개발자가 될 필요는 없습니다</a:t>
            </a:r>
            <a:r>
              <a:rPr lang="en-US" altLang="ko-KR" sz="2700" b="1">
                <a:solidFill>
                  <a:srgbClr val="FFFFFF"/>
                </a:solidFill>
                <a:latin typeface="Malgun Gothic" panose="020B0503020000020004" pitchFamily="50" charset="-127"/>
              </a:rPr>
              <a:t>.</a:t>
            </a:r>
            <a:endParaRPr lang="ko-KR" altLang="en-US" sz="27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970975-74E6-C2C4-21EB-97106B6C4A1D}"/>
              </a:ext>
            </a:extLst>
          </p:cNvPr>
          <p:cNvSpPr txBox="1"/>
          <p:nvPr/>
        </p:nvSpPr>
        <p:spPr>
          <a:xfrm>
            <a:off x="762000" y="2349500"/>
            <a:ext cx="96520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100">
                <a:solidFill>
                  <a:srgbClr val="DCE4EA"/>
                </a:solidFill>
                <a:latin typeface="Malgun Gothic" panose="020B0503020000020004" pitchFamily="50" charset="-127"/>
              </a:rPr>
              <a:t>하지만 자신의 업무를 구조적으로 설명하고</a:t>
            </a:r>
            <a:r>
              <a:rPr lang="en-US" altLang="ko-KR" sz="2100">
                <a:solidFill>
                  <a:srgbClr val="DCE4EA"/>
                </a:solidFill>
                <a:latin typeface="Malgun Gothic" panose="020B0503020000020004" pitchFamily="50" charset="-127"/>
              </a:rPr>
              <a:t>,</a:t>
            </a:r>
          </a:p>
          <a:p>
            <a:r>
              <a:rPr lang="ko-KR" altLang="en-US" sz="2100">
                <a:solidFill>
                  <a:srgbClr val="DCE4EA"/>
                </a:solidFill>
                <a:latin typeface="Malgun Gothic" panose="020B0503020000020004" pitchFamily="50" charset="-127"/>
              </a:rPr>
              <a:t>작은 실험으로 개선 가능성을 확인하는 능력은 필요합니다</a:t>
            </a:r>
            <a:r>
              <a:rPr lang="en-US" altLang="ko-KR" sz="2100">
                <a:solidFill>
                  <a:srgbClr val="DCE4EA"/>
                </a:solidFill>
                <a:latin typeface="Malgun Gothic" panose="020B0503020000020004" pitchFamily="50" charset="-127"/>
              </a:rPr>
              <a:t>.</a:t>
            </a:r>
            <a:endParaRPr lang="ko-KR" altLang="en-US" sz="2100">
              <a:solidFill>
                <a:srgbClr val="DCE4E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EC303D4-605E-0301-8EE2-D0A44999A07F}"/>
              </a:ext>
            </a:extLst>
          </p:cNvPr>
          <p:cNvSpPr/>
          <p:nvPr/>
        </p:nvSpPr>
        <p:spPr>
          <a:xfrm>
            <a:off x="762000" y="38100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94D271-4B21-227D-E615-04D44B06E01E}"/>
              </a:ext>
            </a:extLst>
          </p:cNvPr>
          <p:cNvSpPr/>
          <p:nvPr/>
        </p:nvSpPr>
        <p:spPr>
          <a:xfrm>
            <a:off x="762000" y="3810000"/>
            <a:ext cx="76200" cy="1587500"/>
          </a:xfrm>
          <a:prstGeom prst="rect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5C2ABB-A2BF-1661-761B-FB9E43A06763}"/>
              </a:ext>
            </a:extLst>
          </p:cNvPr>
          <p:cNvSpPr txBox="1"/>
          <p:nvPr/>
        </p:nvSpPr>
        <p:spPr>
          <a:xfrm>
            <a:off x="1016000" y="40005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현업의 역할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C729E-294A-348E-CFD8-D022096E26C4}"/>
              </a:ext>
            </a:extLst>
          </p:cNvPr>
          <p:cNvSpPr txBox="1"/>
          <p:nvPr/>
        </p:nvSpPr>
        <p:spPr>
          <a:xfrm>
            <a:off x="1016000" y="4432300"/>
            <a:ext cx="2717800" cy="60016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반복과 오류가 생기는 지점을 설명하고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실제 업무에서 시제품을 검증한다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3834F7E-0151-F182-168B-454AC793DA13}"/>
              </a:ext>
            </a:extLst>
          </p:cNvPr>
          <p:cNvSpPr/>
          <p:nvPr/>
        </p:nvSpPr>
        <p:spPr>
          <a:xfrm>
            <a:off x="4508500" y="38100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DA486A0-C8CA-DA6F-8B5D-A710D2F59BF2}"/>
              </a:ext>
            </a:extLst>
          </p:cNvPr>
          <p:cNvSpPr/>
          <p:nvPr/>
        </p:nvSpPr>
        <p:spPr>
          <a:xfrm>
            <a:off x="4508500" y="3810000"/>
            <a:ext cx="76200" cy="15875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B05E7B-1917-A68D-E5E3-5FF81C28F8D3}"/>
              </a:ext>
            </a:extLst>
          </p:cNvPr>
          <p:cNvSpPr txBox="1"/>
          <p:nvPr/>
        </p:nvSpPr>
        <p:spPr>
          <a:xfrm>
            <a:off x="4762500" y="40005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조직의 역할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6CA52-58CD-09AF-ACD5-B1193DB87FED}"/>
              </a:ext>
            </a:extLst>
          </p:cNvPr>
          <p:cNvSpPr txBox="1"/>
          <p:nvPr/>
        </p:nvSpPr>
        <p:spPr>
          <a:xfrm>
            <a:off x="4762500" y="4432300"/>
            <a:ext cx="27178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데이터 접근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보안 기준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운영 책임을 제공하고 검증된 사례를 확산한다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C63302D-B1E8-DCA0-518B-1A8597A96341}"/>
              </a:ext>
            </a:extLst>
          </p:cNvPr>
          <p:cNvSpPr/>
          <p:nvPr/>
        </p:nvSpPr>
        <p:spPr>
          <a:xfrm>
            <a:off x="8255000" y="3810000"/>
            <a:ext cx="31750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D188E73-6DFF-24C7-0829-16217676A6AE}"/>
              </a:ext>
            </a:extLst>
          </p:cNvPr>
          <p:cNvSpPr/>
          <p:nvPr/>
        </p:nvSpPr>
        <p:spPr>
          <a:xfrm>
            <a:off x="8255000" y="3810000"/>
            <a:ext cx="76200" cy="15875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78F5D3-E576-CC4E-AE11-EC6643AC61B0}"/>
              </a:ext>
            </a:extLst>
          </p:cNvPr>
          <p:cNvSpPr txBox="1"/>
          <p:nvPr/>
        </p:nvSpPr>
        <p:spPr>
          <a:xfrm>
            <a:off x="8509000" y="40005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의 시작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97F1D5-6DC7-C470-0A4A-ABD01DC778F8}"/>
              </a:ext>
            </a:extLst>
          </p:cNvPr>
          <p:cNvSpPr txBox="1"/>
          <p:nvPr/>
        </p:nvSpPr>
        <p:spPr>
          <a:xfrm>
            <a:off x="8509000" y="4432300"/>
            <a:ext cx="27178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당연하게 반복하던 한 가지 업무를 다시 질문한다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.</a:t>
            </a:r>
            <a:endParaRPr lang="ko-KR" altLang="en-US" sz="1300">
              <a:solidFill>
                <a:srgbClr val="4D586A"/>
              </a:solidFill>
              <a:latin typeface="Malgun Gothic" panose="020B0503020000020004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47282B-646D-09D6-424E-ADAD84B879F2}"/>
              </a:ext>
            </a:extLst>
          </p:cNvPr>
          <p:cNvSpPr txBox="1"/>
          <p:nvPr/>
        </p:nvSpPr>
        <p:spPr>
          <a:xfrm>
            <a:off x="889000" y="59436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“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AX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의 시작은 거대한 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AI 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전략이 아니라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오늘도 반복되는 한 가지 업무를 다시 묻는 것입니다</a:t>
            </a:r>
            <a:r>
              <a:rPr lang="en-US" altLang="ko-KR" sz="1600" b="1">
                <a:solidFill>
                  <a:srgbClr val="FFFFFF"/>
                </a:solidFill>
                <a:latin typeface="Malgun Gothic" panose="020B0503020000020004" pitchFamily="50" charset="-127"/>
              </a:rPr>
              <a:t>.”</a:t>
            </a:r>
            <a:endParaRPr lang="ko-KR" altLang="en-US" sz="16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653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8FD04E6-5DA6-ABB4-1698-8F4AFC705D62}"/>
              </a:ext>
            </a:extLst>
          </p:cNvPr>
          <p:cNvSpPr/>
          <p:nvPr/>
        </p:nvSpPr>
        <p:spPr>
          <a:xfrm>
            <a:off x="685800" y="381000"/>
            <a:ext cx="1333500" cy="355600"/>
          </a:xfrm>
          <a:prstGeom prst="roundRect">
            <a:avLst/>
          </a:prstGeom>
          <a:solidFill>
            <a:srgbClr val="69738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Q&amp;A APPENDIX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EE8A1-E730-ABFF-100D-9F9947E9393E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데이터와 기술 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1409A-46FF-E0B2-9DCD-0DCF58D9815C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질문이 있을 때만 설명하는 운영 구조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43446CF-F6E2-6523-0325-B9677DB709E2}"/>
              </a:ext>
            </a:extLst>
          </p:cNvPr>
          <p:cNvSpPr/>
          <p:nvPr/>
        </p:nvSpPr>
        <p:spPr>
          <a:xfrm>
            <a:off x="889000" y="2349500"/>
            <a:ext cx="2222500" cy="660400"/>
          </a:xfrm>
          <a:prstGeom prst="round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환율 </a:t>
            </a:r>
            <a:r>
              <a:rPr lang="en-US" altLang="ko-KR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API / </a:t>
            </a:r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보정 데이터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F295873-6907-F0C8-327C-C44631087B7B}"/>
              </a:ext>
            </a:extLst>
          </p:cNvPr>
          <p:cNvCxnSpPr/>
          <p:nvPr/>
        </p:nvCxnSpPr>
        <p:spPr>
          <a:xfrm>
            <a:off x="3175000" y="2679700"/>
            <a:ext cx="5080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4D119D1-76A3-381B-D576-5E3551F4FFEE}"/>
              </a:ext>
            </a:extLst>
          </p:cNvPr>
          <p:cNvSpPr/>
          <p:nvPr/>
        </p:nvSpPr>
        <p:spPr>
          <a:xfrm>
            <a:off x="3746500" y="2349500"/>
            <a:ext cx="1905000" cy="660400"/>
          </a:xfrm>
          <a:prstGeom prst="roundRect">
            <a:avLst/>
          </a:prstGeom>
          <a:solidFill>
            <a:srgbClr val="3D728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정기 데이터 생성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4B86809-C167-A5C6-D97B-F0FA1915CC5A}"/>
              </a:ext>
            </a:extLst>
          </p:cNvPr>
          <p:cNvCxnSpPr/>
          <p:nvPr/>
        </p:nvCxnSpPr>
        <p:spPr>
          <a:xfrm>
            <a:off x="5715000" y="2679700"/>
            <a:ext cx="5080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3C487AA-6D30-74A7-728A-C605EB91C2D3}"/>
              </a:ext>
            </a:extLst>
          </p:cNvPr>
          <p:cNvSpPr/>
          <p:nvPr/>
        </p:nvSpPr>
        <p:spPr>
          <a:xfrm>
            <a:off x="6286500" y="2349500"/>
            <a:ext cx="1905000" cy="660400"/>
          </a:xfrm>
          <a:prstGeom prst="round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대시보드 배포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EEA413E-DC80-4069-59A6-42811270E52F}"/>
              </a:ext>
            </a:extLst>
          </p:cNvPr>
          <p:cNvCxnSpPr/>
          <p:nvPr/>
        </p:nvCxnSpPr>
        <p:spPr>
          <a:xfrm>
            <a:off x="8255000" y="2679700"/>
            <a:ext cx="508000" cy="0"/>
          </a:xfrm>
          <a:prstGeom prst="line">
            <a:avLst/>
          </a:prstGeom>
          <a:ln w="25400">
            <a:solidFill>
              <a:srgbClr val="A3A9B3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7B55719C-B673-3243-645C-0C79DA3F373F}"/>
              </a:ext>
            </a:extLst>
          </p:cNvPr>
          <p:cNvSpPr/>
          <p:nvPr/>
        </p:nvSpPr>
        <p:spPr>
          <a:xfrm>
            <a:off x="8826500" y="2349500"/>
            <a:ext cx="1905000" cy="660400"/>
          </a:xfrm>
          <a:prstGeom prst="round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>
                <a:solidFill>
                  <a:srgbClr val="FFFFFF"/>
                </a:solidFill>
                <a:latin typeface="Malgun Gothic" panose="020B0503020000020004" pitchFamily="50" charset="-127"/>
              </a:rPr>
              <a:t>사용자 확인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35979260-24C5-AE0E-3204-6067D69CE097}"/>
              </a:ext>
            </a:extLst>
          </p:cNvPr>
          <p:cNvSpPr/>
          <p:nvPr/>
        </p:nvSpPr>
        <p:spPr>
          <a:xfrm>
            <a:off x="1333500" y="3937000"/>
            <a:ext cx="2667000" cy="139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BFF05C8-99FA-40EA-8F66-4E7F603591C0}"/>
              </a:ext>
            </a:extLst>
          </p:cNvPr>
          <p:cNvSpPr/>
          <p:nvPr/>
        </p:nvSpPr>
        <p:spPr>
          <a:xfrm>
            <a:off x="1333500" y="3937000"/>
            <a:ext cx="76200" cy="13970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430B88-1791-3D2E-4B0F-75AADFF0B204}"/>
              </a:ext>
            </a:extLst>
          </p:cNvPr>
          <p:cNvSpPr txBox="1"/>
          <p:nvPr/>
        </p:nvSpPr>
        <p:spPr>
          <a:xfrm>
            <a:off x="1587500" y="4127500"/>
            <a:ext cx="2209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화면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E61DFF-B80F-637C-72D4-0FEBDC077C03}"/>
              </a:ext>
            </a:extLst>
          </p:cNvPr>
          <p:cNvSpPr txBox="1"/>
          <p:nvPr/>
        </p:nvSpPr>
        <p:spPr>
          <a:xfrm>
            <a:off x="1587500" y="4559300"/>
            <a:ext cx="2209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React + TypeScript</a:t>
            </a:r>
          </a:p>
          <a:p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Netlify 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배포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68A371D8-03D0-1C41-CB94-73E64ACF6E16}"/>
              </a:ext>
            </a:extLst>
          </p:cNvPr>
          <p:cNvSpPr/>
          <p:nvPr/>
        </p:nvSpPr>
        <p:spPr>
          <a:xfrm>
            <a:off x="4762500" y="3937000"/>
            <a:ext cx="2667000" cy="139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393A813-9F7B-56E5-B6B4-998DC7683321}"/>
              </a:ext>
            </a:extLst>
          </p:cNvPr>
          <p:cNvSpPr/>
          <p:nvPr/>
        </p:nvSpPr>
        <p:spPr>
          <a:xfrm>
            <a:off x="4762500" y="3937000"/>
            <a:ext cx="76200" cy="1397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CEBC86-FA1B-07CC-A9D0-AD6DF9ED6C61}"/>
              </a:ext>
            </a:extLst>
          </p:cNvPr>
          <p:cNvSpPr txBox="1"/>
          <p:nvPr/>
        </p:nvSpPr>
        <p:spPr>
          <a:xfrm>
            <a:off x="5016500" y="4127500"/>
            <a:ext cx="2209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계획 환율</a:t>
            </a:r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권한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75D63F-A077-416F-FAD0-68CE82F03E2E}"/>
              </a:ext>
            </a:extLst>
          </p:cNvPr>
          <p:cNvSpPr txBox="1"/>
          <p:nvPr/>
        </p:nvSpPr>
        <p:spPr>
          <a:xfrm>
            <a:off x="5016500" y="4559300"/>
            <a:ext cx="2209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Supabase Auth + Database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권한별 수정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743AC65-96A6-643C-5C55-D8B70856A286}"/>
              </a:ext>
            </a:extLst>
          </p:cNvPr>
          <p:cNvSpPr/>
          <p:nvPr/>
        </p:nvSpPr>
        <p:spPr>
          <a:xfrm>
            <a:off x="8191500" y="3937000"/>
            <a:ext cx="2667000" cy="139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2758053-CF08-C0E3-1DE4-FC93A5159797}"/>
              </a:ext>
            </a:extLst>
          </p:cNvPr>
          <p:cNvSpPr/>
          <p:nvPr/>
        </p:nvSpPr>
        <p:spPr>
          <a:xfrm>
            <a:off x="8191500" y="3937000"/>
            <a:ext cx="76200" cy="1397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E92389-757D-45C5-ECAE-3920545DB4FD}"/>
              </a:ext>
            </a:extLst>
          </p:cNvPr>
          <p:cNvSpPr txBox="1"/>
          <p:nvPr/>
        </p:nvSpPr>
        <p:spPr>
          <a:xfrm>
            <a:off x="8445500" y="4127500"/>
            <a:ext cx="2209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운영 자동화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BE125F-DEB4-6F76-4412-0D022DBC6A87}"/>
              </a:ext>
            </a:extLst>
          </p:cNvPr>
          <p:cNvSpPr txBox="1"/>
          <p:nvPr/>
        </p:nvSpPr>
        <p:spPr>
          <a:xfrm>
            <a:off x="8445500" y="4559300"/>
            <a:ext cx="2209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GitHub Actions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정기 생성과 배포</a:t>
            </a:r>
          </a:p>
        </p:txBody>
      </p:sp>
    </p:spTree>
    <p:extLst>
      <p:ext uri="{BB962C8B-B14F-4D97-AF65-F5344CB8AC3E}">
        <p14:creationId xmlns:p14="http://schemas.microsoft.com/office/powerpoint/2010/main" val="577720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B9DC069-EB14-E756-CC46-E112B5ED0A02}"/>
              </a:ext>
            </a:extLst>
          </p:cNvPr>
          <p:cNvSpPr/>
          <p:nvPr/>
        </p:nvSpPr>
        <p:spPr>
          <a:xfrm>
            <a:off x="685800" y="381000"/>
            <a:ext cx="1333500" cy="355600"/>
          </a:xfrm>
          <a:prstGeom prst="roundRect">
            <a:avLst/>
          </a:prstGeom>
          <a:solidFill>
            <a:srgbClr val="69738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Q&amp;A APPENDIX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0FC39-885F-AC68-0F96-59E947CD5B6B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현재 구현 범위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2CB1A-24E7-4B4F-83A5-5857A0F541FA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현재 기능과 운영 전 확인 사항을 구분한다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D3F2D22-29C0-BC05-4172-FC7F19635CBC}"/>
              </a:ext>
            </a:extLst>
          </p:cNvPr>
          <p:cNvSpPr/>
          <p:nvPr/>
        </p:nvSpPr>
        <p:spPr>
          <a:xfrm>
            <a:off x="635000" y="2032000"/>
            <a:ext cx="5588000" cy="3556000"/>
          </a:xfrm>
          <a:prstGeom prst="roundRect">
            <a:avLst/>
          </a:prstGeom>
          <a:solidFill>
            <a:srgbClr val="FFFFFF"/>
          </a:solidFill>
          <a:ln>
            <a:solidFill>
              <a:srgbClr val="D9D7CF"/>
            </a:solidFill>
          </a:ln>
          <a:effectLst>
            <a:outerShdw blurRad="63500" dist="37357" dir="2700000" rotWithShape="0">
              <a:scrgbClr r="0" g="0" b="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E42666D-9F5F-384E-AF97-D042D20AF4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095500"/>
            <a:ext cx="5461000" cy="3429000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5E07477-1ED4-3592-82FD-FC00A8DF97E8}"/>
              </a:ext>
            </a:extLst>
          </p:cNvPr>
          <p:cNvSpPr/>
          <p:nvPr/>
        </p:nvSpPr>
        <p:spPr>
          <a:xfrm>
            <a:off x="6794500" y="2095500"/>
            <a:ext cx="4318000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9E82F8F-2B9B-D1D3-88B1-38DA3834F6C0}"/>
              </a:ext>
            </a:extLst>
          </p:cNvPr>
          <p:cNvSpPr/>
          <p:nvPr/>
        </p:nvSpPr>
        <p:spPr>
          <a:xfrm>
            <a:off x="6794500" y="2095500"/>
            <a:ext cx="76200" cy="23495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F8293B-973D-D3FA-73C5-5A025BFCF8F3}"/>
              </a:ext>
            </a:extLst>
          </p:cNvPr>
          <p:cNvSpPr txBox="1"/>
          <p:nvPr/>
        </p:nvSpPr>
        <p:spPr>
          <a:xfrm>
            <a:off x="7048500" y="2286000"/>
            <a:ext cx="3860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현재 구현됨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436198-8F9E-BE37-26C9-4EC4884C2517}"/>
              </a:ext>
            </a:extLst>
          </p:cNvPr>
          <p:cNvSpPr txBox="1"/>
          <p:nvPr/>
        </p:nvSpPr>
        <p:spPr>
          <a:xfrm>
            <a:off x="7048500" y="2717800"/>
            <a:ext cx="3860800" cy="107721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환율 수집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보정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주요 지표 계산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월별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일별 추이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계획 대비 비교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메일 본문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차트 생성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0F098AF-96C3-E2C7-3C81-28AB64A5992A}"/>
              </a:ext>
            </a:extLst>
          </p:cNvPr>
          <p:cNvSpPr/>
          <p:nvPr/>
        </p:nvSpPr>
        <p:spPr>
          <a:xfrm>
            <a:off x="6794500" y="4699000"/>
            <a:ext cx="4318000" cy="146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108E6F1-E7BC-4D4C-23E8-BB86D0CA9532}"/>
              </a:ext>
            </a:extLst>
          </p:cNvPr>
          <p:cNvSpPr/>
          <p:nvPr/>
        </p:nvSpPr>
        <p:spPr>
          <a:xfrm>
            <a:off x="6794500" y="4699000"/>
            <a:ext cx="76200" cy="1460500"/>
          </a:xfrm>
          <a:prstGeom prst="rect">
            <a:avLst/>
          </a:prstGeom>
          <a:solidFill>
            <a:srgbClr val="A56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9B422-505C-85AA-2864-0B0E376DBF0B}"/>
              </a:ext>
            </a:extLst>
          </p:cNvPr>
          <p:cNvSpPr txBox="1"/>
          <p:nvPr/>
        </p:nvSpPr>
        <p:spPr>
          <a:xfrm>
            <a:off x="7048500" y="4889500"/>
            <a:ext cx="3860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운영 전 확인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3ED2C2-A19D-4EC3-0A76-F56370CA8A89}"/>
              </a:ext>
            </a:extLst>
          </p:cNvPr>
          <p:cNvSpPr txBox="1"/>
          <p:nvPr/>
        </p:nvSpPr>
        <p:spPr>
          <a:xfrm>
            <a:off x="7048500" y="5321300"/>
            <a:ext cx="3860800" cy="6463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수신자 체계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장애 알림</a:t>
            </a:r>
          </a:p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담당자와 유지보수 책임</a:t>
            </a:r>
          </a:p>
        </p:txBody>
      </p:sp>
    </p:spTree>
    <p:extLst>
      <p:ext uri="{BB962C8B-B14F-4D97-AF65-F5344CB8AC3E}">
        <p14:creationId xmlns:p14="http://schemas.microsoft.com/office/powerpoint/2010/main" val="2230737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6B16536-F9BA-1C19-7A61-B8385908888E}"/>
              </a:ext>
            </a:extLst>
          </p:cNvPr>
          <p:cNvSpPr/>
          <p:nvPr/>
        </p:nvSpPr>
        <p:spPr>
          <a:xfrm>
            <a:off x="685800" y="381000"/>
            <a:ext cx="1333500" cy="355600"/>
          </a:xfrm>
          <a:prstGeom prst="roundRect">
            <a:avLst/>
          </a:prstGeom>
          <a:solidFill>
            <a:srgbClr val="69738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Q&amp;A APPENDIX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C7542-AB9D-5B58-954C-FC06C5C0A541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향후 </a:t>
            </a:r>
            <a:r>
              <a:rPr lang="en-US" altLang="ko-KR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AI </a:t>
            </a:r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분석 방향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EECCD-9746-05E4-9F72-DC3ECCE3B56E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현재 구현 기능이 아니라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검증 이후 확장할 수 있는 가능성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B218422-9968-D5BD-519F-8526E55C5795}"/>
              </a:ext>
            </a:extLst>
          </p:cNvPr>
          <p:cNvSpPr/>
          <p:nvPr/>
        </p:nvSpPr>
        <p:spPr>
          <a:xfrm>
            <a:off x="825500" y="2222500"/>
            <a:ext cx="3175000" cy="215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610BB5D-54E4-14FB-5331-56D5BD0ECD73}"/>
              </a:ext>
            </a:extLst>
          </p:cNvPr>
          <p:cNvSpPr/>
          <p:nvPr/>
        </p:nvSpPr>
        <p:spPr>
          <a:xfrm>
            <a:off x="825500" y="2222500"/>
            <a:ext cx="76200" cy="21590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CB57CB-6F10-A05A-FB6A-9BD24738D340}"/>
              </a:ext>
            </a:extLst>
          </p:cNvPr>
          <p:cNvSpPr txBox="1"/>
          <p:nvPr/>
        </p:nvSpPr>
        <p:spPr>
          <a:xfrm>
            <a:off x="1079500" y="24130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이상 통화 요약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5EB2CD-8E32-4527-15B5-23E849DB50C7}"/>
              </a:ext>
            </a:extLst>
          </p:cNvPr>
          <p:cNvSpPr txBox="1"/>
          <p:nvPr/>
        </p:nvSpPr>
        <p:spPr>
          <a:xfrm>
            <a:off x="1079500" y="2844800"/>
            <a:ext cx="2717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MoM, 52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주 위치</a:t>
            </a:r>
            <a:r>
              <a:rPr lang="en-US" altLang="ko-KR" sz="14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계획 대비 차이가 큰 통화를 우선 제안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E8753AF-F60E-AA4B-6F71-0B2F4330D8FD}"/>
              </a:ext>
            </a:extLst>
          </p:cNvPr>
          <p:cNvSpPr/>
          <p:nvPr/>
        </p:nvSpPr>
        <p:spPr>
          <a:xfrm>
            <a:off x="4508500" y="2222500"/>
            <a:ext cx="3175000" cy="215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E0BAB6-630E-0185-6C8F-9FD462BB56D6}"/>
              </a:ext>
            </a:extLst>
          </p:cNvPr>
          <p:cNvSpPr/>
          <p:nvPr/>
        </p:nvSpPr>
        <p:spPr>
          <a:xfrm>
            <a:off x="4508500" y="2222500"/>
            <a:ext cx="76200" cy="2159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AFC727-8D1F-EAE5-4039-9039A5C43B69}"/>
              </a:ext>
            </a:extLst>
          </p:cNvPr>
          <p:cNvSpPr txBox="1"/>
          <p:nvPr/>
        </p:nvSpPr>
        <p:spPr>
          <a:xfrm>
            <a:off x="4762500" y="24130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원인 후보 연결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AC7C03-C56D-6BEB-9DCC-FE415D8E22EF}"/>
              </a:ext>
            </a:extLst>
          </p:cNvPr>
          <p:cNvSpPr txBox="1"/>
          <p:nvPr/>
        </p:nvSpPr>
        <p:spPr>
          <a:xfrm>
            <a:off x="4762500" y="2844800"/>
            <a:ext cx="2717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환율 움직임과 외부 시장 정보를 연결해 검토할 맥락 제시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67B4632-5EEE-E6FF-AF63-FE01FFF19C6B}"/>
              </a:ext>
            </a:extLst>
          </p:cNvPr>
          <p:cNvSpPr/>
          <p:nvPr/>
        </p:nvSpPr>
        <p:spPr>
          <a:xfrm>
            <a:off x="8191500" y="2222500"/>
            <a:ext cx="3175000" cy="215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24BE17D-438B-C6F5-E78A-372E69C8981F}"/>
              </a:ext>
            </a:extLst>
          </p:cNvPr>
          <p:cNvSpPr/>
          <p:nvPr/>
        </p:nvSpPr>
        <p:spPr>
          <a:xfrm>
            <a:off x="8191500" y="2222500"/>
            <a:ext cx="76200" cy="2159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9268AA-3CD4-0F47-B985-63D3B71F4764}"/>
              </a:ext>
            </a:extLst>
          </p:cNvPr>
          <p:cNvSpPr txBox="1"/>
          <p:nvPr/>
        </p:nvSpPr>
        <p:spPr>
          <a:xfrm>
            <a:off x="8445500" y="2413000"/>
            <a:ext cx="2717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대응 질문 제안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0F94A8-401C-E8DC-5632-38E2C322B6CA}"/>
              </a:ext>
            </a:extLst>
          </p:cNvPr>
          <p:cNvSpPr txBox="1"/>
          <p:nvPr/>
        </p:nvSpPr>
        <p:spPr>
          <a:xfrm>
            <a:off x="8445500" y="2844800"/>
            <a:ext cx="27178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400">
                <a:solidFill>
                  <a:srgbClr val="4D586A"/>
                </a:solidFill>
                <a:latin typeface="Malgun Gothic" panose="020B0503020000020004" pitchFamily="50" charset="-127"/>
              </a:rPr>
              <a:t>결론을 확정하기보다 회의에서 확인해야 할 질문과 근거 제안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5B6D41-4196-0889-E34F-327EBAF39A3F}"/>
              </a:ext>
            </a:extLst>
          </p:cNvPr>
          <p:cNvSpPr txBox="1"/>
          <p:nvPr/>
        </p:nvSpPr>
        <p:spPr>
          <a:xfrm>
            <a:off x="1651000" y="5143500"/>
            <a:ext cx="8890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ko-KR" sz="2100" b="1">
                <a:solidFill>
                  <a:srgbClr val="172033"/>
                </a:solidFill>
                <a:latin typeface="Malgun Gothic" panose="020B0503020000020004" pitchFamily="50" charset="-127"/>
              </a:rPr>
              <a:t>AI</a:t>
            </a:r>
            <a:r>
              <a:rPr lang="ko-KR" altLang="en-US" sz="2100" b="1">
                <a:solidFill>
                  <a:srgbClr val="172033"/>
                </a:solidFill>
                <a:latin typeface="Malgun Gothic" panose="020B0503020000020004" pitchFamily="50" charset="-127"/>
              </a:rPr>
              <a:t>의 역할</a:t>
            </a:r>
            <a:r>
              <a:rPr lang="en-US" altLang="ko-KR" sz="2100" b="1">
                <a:solidFill>
                  <a:srgbClr val="172033"/>
                </a:solidFill>
                <a:latin typeface="Malgun Gothic" panose="020B0503020000020004" pitchFamily="50" charset="-127"/>
              </a:rPr>
              <a:t>: </a:t>
            </a:r>
            <a:r>
              <a:rPr lang="ko-KR" altLang="en-US" sz="2100" b="1">
                <a:solidFill>
                  <a:srgbClr val="172033"/>
                </a:solidFill>
                <a:latin typeface="Malgun Gothic" panose="020B0503020000020004" pitchFamily="50" charset="-127"/>
              </a:rPr>
              <a:t>판단을 대체하는 결론 → 판단을 돕는 근거와 검토 대상</a:t>
            </a:r>
          </a:p>
        </p:txBody>
      </p:sp>
    </p:spTree>
    <p:extLst>
      <p:ext uri="{BB962C8B-B14F-4D97-AF65-F5344CB8AC3E}">
        <p14:creationId xmlns:p14="http://schemas.microsoft.com/office/powerpoint/2010/main" val="1832381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3B609658-664E-62C3-EAA8-8179446C9715}"/>
              </a:ext>
            </a:extLst>
          </p:cNvPr>
          <p:cNvSpPr/>
          <p:nvPr/>
        </p:nvSpPr>
        <p:spPr>
          <a:xfrm>
            <a:off x="685800" y="381000"/>
            <a:ext cx="1333500" cy="355600"/>
          </a:xfrm>
          <a:prstGeom prst="roundRect">
            <a:avLst/>
          </a:prstGeom>
          <a:solidFill>
            <a:srgbClr val="69738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>
                <a:solidFill>
                  <a:srgbClr val="FFFFFF"/>
                </a:solidFill>
                <a:latin typeface="Malgun Gothic" panose="020B0503020000020004" pitchFamily="50" charset="-127"/>
              </a:rPr>
              <a:t>Q&amp;A APPENDIX</a:t>
            </a:r>
            <a:endParaRPr lang="ko-KR" altLang="en-US" sz="1000" b="1">
              <a:solidFill>
                <a:srgbClr val="FFFFFF"/>
              </a:solidFill>
              <a:latin typeface="Malgun Gothic" panose="020B050302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50DC06-13CB-1820-ABBD-87F4C5E90A31}"/>
              </a:ext>
            </a:extLst>
          </p:cNvPr>
          <p:cNvSpPr txBox="1"/>
          <p:nvPr/>
        </p:nvSpPr>
        <p:spPr>
          <a:xfrm>
            <a:off x="685800" y="825500"/>
            <a:ext cx="10795000" cy="41549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2700" b="1">
                <a:solidFill>
                  <a:srgbClr val="172033"/>
                </a:solidFill>
                <a:latin typeface="Malgun Gothic" panose="020B0503020000020004" pitchFamily="50" charset="-127"/>
              </a:rPr>
              <a:t>기능 화면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55A6F3-1DFD-87EE-4DDA-3170F3578354}"/>
              </a:ext>
            </a:extLst>
          </p:cNvPr>
          <p:cNvSpPr txBox="1"/>
          <p:nvPr/>
        </p:nvSpPr>
        <p:spPr>
          <a:xfrm>
            <a:off x="711200" y="1536700"/>
            <a:ext cx="1060450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필요한 질문에 맞춰 월별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일별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계획</a:t>
            </a:r>
            <a:r>
              <a:rPr lang="en-US" altLang="ko-KR" sz="1200">
                <a:solidFill>
                  <a:srgbClr val="697386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200">
                <a:solidFill>
                  <a:srgbClr val="697386"/>
                </a:solidFill>
                <a:latin typeface="Malgun Gothic" panose="020B0503020000020004" pitchFamily="50" charset="-127"/>
              </a:rPr>
              <a:t>관리 화면을 보여준다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668A12D0-CB50-37B8-3540-D106D1193405}"/>
              </a:ext>
            </a:extLst>
          </p:cNvPr>
          <p:cNvSpPr/>
          <p:nvPr/>
        </p:nvSpPr>
        <p:spPr>
          <a:xfrm>
            <a:off x="635000" y="1968500"/>
            <a:ext cx="3429000" cy="2197100"/>
          </a:xfrm>
          <a:prstGeom prst="roundRect">
            <a:avLst/>
          </a:prstGeom>
          <a:solidFill>
            <a:srgbClr val="FFFFFF"/>
          </a:solidFill>
          <a:ln>
            <a:solidFill>
              <a:srgbClr val="D9D7CF"/>
            </a:solidFill>
          </a:ln>
          <a:effectLst>
            <a:outerShdw blurRad="63500" dist="37357" dir="2700000" rotWithShape="0">
              <a:scrgbClr r="0" g="0" b="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E871BC4-7C4D-5FCD-6409-42D6EC2A58D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032000"/>
            <a:ext cx="3302000" cy="2070100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8ADD97B-AD7E-6750-A555-7CC5DBC4E72C}"/>
              </a:ext>
            </a:extLst>
          </p:cNvPr>
          <p:cNvSpPr/>
          <p:nvPr/>
        </p:nvSpPr>
        <p:spPr>
          <a:xfrm>
            <a:off x="4381500" y="1968500"/>
            <a:ext cx="3429000" cy="2197100"/>
          </a:xfrm>
          <a:prstGeom prst="roundRect">
            <a:avLst/>
          </a:prstGeom>
          <a:solidFill>
            <a:srgbClr val="FFFFFF"/>
          </a:solidFill>
          <a:ln>
            <a:solidFill>
              <a:srgbClr val="D9D7CF"/>
            </a:solidFill>
          </a:ln>
          <a:effectLst>
            <a:outerShdw blurRad="63500" dist="37357" dir="2700000" rotWithShape="0">
              <a:scrgbClr r="0" g="0" b="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6C6A87-CF64-D464-ADBA-64C3A2491A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000" y="2032000"/>
            <a:ext cx="3302000" cy="2070100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8A24952-B450-FC34-697F-96162C3EA554}"/>
              </a:ext>
            </a:extLst>
          </p:cNvPr>
          <p:cNvSpPr/>
          <p:nvPr/>
        </p:nvSpPr>
        <p:spPr>
          <a:xfrm>
            <a:off x="8128000" y="1968500"/>
            <a:ext cx="3429000" cy="2197100"/>
          </a:xfrm>
          <a:prstGeom prst="roundRect">
            <a:avLst/>
          </a:prstGeom>
          <a:solidFill>
            <a:srgbClr val="FFFFFF"/>
          </a:solidFill>
          <a:ln>
            <a:solidFill>
              <a:srgbClr val="D9D7CF"/>
            </a:solidFill>
          </a:ln>
          <a:effectLst>
            <a:outerShdw blurRad="63500" dist="37357" dir="2700000" rotWithShape="0">
              <a:scrgbClr r="0" g="0" b="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0346AA2-975A-986F-3612-8221BDFD6A9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1500" y="2032000"/>
            <a:ext cx="3302000" cy="2070100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A71CED9-65F2-BDCB-25DE-4842165EB7CB}"/>
              </a:ext>
            </a:extLst>
          </p:cNvPr>
          <p:cNvSpPr/>
          <p:nvPr/>
        </p:nvSpPr>
        <p:spPr>
          <a:xfrm>
            <a:off x="698500" y="4508500"/>
            <a:ext cx="3302000" cy="127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A5F2A28-943F-BE7C-EDA3-755C115AB3BF}"/>
              </a:ext>
            </a:extLst>
          </p:cNvPr>
          <p:cNvSpPr/>
          <p:nvPr/>
        </p:nvSpPr>
        <p:spPr>
          <a:xfrm>
            <a:off x="698500" y="4508500"/>
            <a:ext cx="76200" cy="1270000"/>
          </a:xfrm>
          <a:prstGeom prst="rect">
            <a:avLst/>
          </a:prstGeom>
          <a:solidFill>
            <a:srgbClr val="355F8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DDCA10-5611-E283-678E-2AFA48720DA0}"/>
              </a:ext>
            </a:extLst>
          </p:cNvPr>
          <p:cNvSpPr txBox="1"/>
          <p:nvPr/>
        </p:nvSpPr>
        <p:spPr>
          <a:xfrm>
            <a:off x="952500" y="4699000"/>
            <a:ext cx="284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월별</a:t>
            </a:r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일별 추이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44A2E8-476B-574C-C741-EFBA72461750}"/>
              </a:ext>
            </a:extLst>
          </p:cNvPr>
          <p:cNvSpPr txBox="1"/>
          <p:nvPr/>
        </p:nvSpPr>
        <p:spPr>
          <a:xfrm>
            <a:off x="952500" y="5130800"/>
            <a:ext cx="28448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단기 변화와 장기 흐름을 분리해 확인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BCBB57C4-2002-492D-5271-0838C47EF693}"/>
              </a:ext>
            </a:extLst>
          </p:cNvPr>
          <p:cNvSpPr/>
          <p:nvPr/>
        </p:nvSpPr>
        <p:spPr>
          <a:xfrm>
            <a:off x="4445000" y="4508500"/>
            <a:ext cx="3302000" cy="127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F44CEE9-6920-8CED-0017-536D0BD010F9}"/>
              </a:ext>
            </a:extLst>
          </p:cNvPr>
          <p:cNvSpPr/>
          <p:nvPr/>
        </p:nvSpPr>
        <p:spPr>
          <a:xfrm>
            <a:off x="4445000" y="4508500"/>
            <a:ext cx="76200" cy="1270000"/>
          </a:xfrm>
          <a:prstGeom prst="rect">
            <a:avLst/>
          </a:prstGeom>
          <a:solidFill>
            <a:srgbClr val="24736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25CC3C-1299-0D7B-715F-04B5B381D093}"/>
              </a:ext>
            </a:extLst>
          </p:cNvPr>
          <p:cNvSpPr txBox="1"/>
          <p:nvPr/>
        </p:nvSpPr>
        <p:spPr>
          <a:xfrm>
            <a:off x="4699000" y="4699000"/>
            <a:ext cx="284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계획 대비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85D783-3169-FE39-6375-3EFE2B9AEB17}"/>
              </a:ext>
            </a:extLst>
          </p:cNvPr>
          <p:cNvSpPr txBox="1"/>
          <p:nvPr/>
        </p:nvSpPr>
        <p:spPr>
          <a:xfrm>
            <a:off x="4699000" y="5130800"/>
            <a:ext cx="28448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실제 환율을 회사의 계획 기준과 연결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88A40923-3EED-8AE7-29B3-5F3C631A707C}"/>
              </a:ext>
            </a:extLst>
          </p:cNvPr>
          <p:cNvSpPr/>
          <p:nvPr/>
        </p:nvSpPr>
        <p:spPr>
          <a:xfrm>
            <a:off x="8191500" y="4508500"/>
            <a:ext cx="3302000" cy="127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7C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E3865E4-98D9-4374-C1CB-73F6B373EB4A}"/>
              </a:ext>
            </a:extLst>
          </p:cNvPr>
          <p:cNvSpPr/>
          <p:nvPr/>
        </p:nvSpPr>
        <p:spPr>
          <a:xfrm>
            <a:off x="8191500" y="4508500"/>
            <a:ext cx="76200" cy="1270000"/>
          </a:xfrm>
          <a:prstGeom prst="rect">
            <a:avLst/>
          </a:prstGeom>
          <a:solidFill>
            <a:srgbClr val="765C7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9128CB-7909-F454-1E34-FD508D300831}"/>
              </a:ext>
            </a:extLst>
          </p:cNvPr>
          <p:cNvSpPr txBox="1"/>
          <p:nvPr/>
        </p:nvSpPr>
        <p:spPr>
          <a:xfrm>
            <a:off x="8445500" y="4699000"/>
            <a:ext cx="28448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관리</a:t>
            </a:r>
            <a:r>
              <a:rPr lang="en-US" altLang="ko-KR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·</a:t>
            </a:r>
            <a:r>
              <a:rPr lang="ko-KR" altLang="en-US" sz="1600" b="1">
                <a:solidFill>
                  <a:srgbClr val="172033"/>
                </a:solidFill>
                <a:latin typeface="Malgun Gothic" panose="020B0503020000020004" pitchFamily="50" charset="-127"/>
              </a:rPr>
              <a:t>운영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F8BD7D-EFDB-EB2D-F0D9-4FA04EE05098}"/>
              </a:ext>
            </a:extLst>
          </p:cNvPr>
          <p:cNvSpPr txBox="1"/>
          <p:nvPr/>
        </p:nvSpPr>
        <p:spPr>
          <a:xfrm>
            <a:off x="8445500" y="5130800"/>
            <a:ext cx="2844800" cy="400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데이터 상태</a:t>
            </a:r>
            <a:r>
              <a:rPr lang="en-US" altLang="ko-KR" sz="1300">
                <a:solidFill>
                  <a:srgbClr val="4D586A"/>
                </a:solidFill>
                <a:latin typeface="Malgun Gothic" panose="020B0503020000020004" pitchFamily="50" charset="-127"/>
              </a:rPr>
              <a:t>, </a:t>
            </a:r>
            <a:r>
              <a:rPr lang="ko-KR" altLang="en-US" sz="1300">
                <a:solidFill>
                  <a:srgbClr val="4D586A"/>
                </a:solidFill>
                <a:latin typeface="Malgun Gothic" panose="020B0503020000020004" pitchFamily="50" charset="-127"/>
              </a:rPr>
              <a:t>업로드와 운영 정보를 확인</a:t>
            </a:r>
          </a:p>
        </p:txBody>
      </p:sp>
    </p:spTree>
    <p:extLst>
      <p:ext uri="{BB962C8B-B14F-4D97-AF65-F5344CB8AC3E}">
        <p14:creationId xmlns:p14="http://schemas.microsoft.com/office/powerpoint/2010/main" val="1443611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848</Words>
  <Application>Microsoft Office PowerPoint</Application>
  <PresentationFormat>사용자 지정</PresentationFormat>
  <Paragraphs>179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Imjun Koo</dc:creator>
  <cp:lastModifiedBy>Imjun Koo</cp:lastModifiedBy>
  <cp:revision>1</cp:revision>
  <dcterms:created xsi:type="dcterms:W3CDTF">2026-06-23T10:48:38Z</dcterms:created>
  <dcterms:modified xsi:type="dcterms:W3CDTF">2026-06-23T10:48:38Z</dcterms:modified>
</cp:coreProperties>
</file>