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2976C-A38F-604E-E1E4-E2B8D9A86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72D79E-7CEE-2AC5-0F4B-CA256694E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6B294D-F06A-6209-9E14-93A4EDAC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F1D608-9E0A-CE1F-43D7-76448BE9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8E374-A681-9C9E-4D4C-AE263B32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8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96F50-6072-0CF1-5E66-C4B7707D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16039-D21B-91FA-8F15-B6FDE356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F0AA3-2425-A804-CDC8-0C8D8BA6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9CB12-47CE-0743-8ADE-BB5FC709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B4C71-12FB-C534-C91F-9A146B34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20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4EFA9-031E-A1BB-54AF-34497877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CF6F18-168B-8EBC-1562-B8203EE9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1B905-844A-02D0-C4C3-B612CC297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D85BB-07D2-A58C-A0FA-C6B20727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1466BD-EBB2-65D8-7CBD-429CF47A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1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57411-744B-7D42-DAF5-311A05A2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2A45E-B1C3-EFA7-4645-556C059E1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492FED-1C36-4490-9648-0D0771A23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B49E0-EF08-E8E2-7B3A-6CDE8C08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20D399-6215-AC87-423B-47A33416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B3018E-AE88-B846-8ECC-EB0BA517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3AE83-7663-4C7E-6251-02C16A24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CBB6BA-BA0B-E878-043C-0254FF14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EF421-0F46-B5AB-7599-9CBC5807C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A597FE-886D-E7AB-C231-3605020BE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9B221A-78F9-318A-6A47-40979A12C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0FDF74-C693-5CEB-497D-41EF1F7C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DF5DB2-B31D-A4F1-8F56-B7D964B9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11D099-8F5F-2504-1C7D-0065F889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5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EA043-3C97-B05E-63F9-121E2F48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B7F249-D929-D013-179A-5E3B6135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520AD7-9BE2-78C4-F60C-D21AE1BF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49729B-8FD6-22E8-AFA5-0CC8E787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36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A62827-B5A5-489A-0742-BFFD499C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CA3428-8306-C41D-E3FA-20E3C37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8ADAF-E041-E23E-9299-AF2B65F7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69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6F668-0A30-5E98-5039-DA479856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950690-8E8E-95A2-E38A-A168BB2C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504C08-A15F-28BE-1554-7B2C06024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6D7AA-E97D-85ED-F509-3A7D24540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03AF5-C924-385F-657B-9742F48B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DE0AA3-69E0-026B-C4C3-CD19CE75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5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E9435-9592-6461-7E91-3246E2AE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817C8B-9B72-FFDE-0D89-E577C158B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EC035A-D146-1F3E-A525-14AE62C73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A333DB-43AD-58E9-A366-2EEA6498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818E4B-B2B0-B7DA-8247-DB61548C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79335F-A7B1-1FC0-9AB9-8EC54B93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46C0-6021-6A00-9AAB-2FCF79D7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B12766-35D0-0A48-A172-892CBA1F3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8F8AB-7BB2-2770-82B6-E20AFB0B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46ED6F-A4AC-FBFF-B28C-67464C89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E8A208-FF47-6632-A40E-A37B6A9F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6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8ED275-55C1-1720-DA49-0380337E6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80C97A-192F-2968-71AB-06CFB6FC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78E78-B032-780B-423E-90370912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478509-07E1-51A0-5549-19D50006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65FA18-8F55-6BE5-4770-855FAB70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61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283823-E00A-80F3-7712-45B7F8B8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D5404-6F89-A401-0C4C-BCEFBE8B5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99ED82-E3BC-8AFB-C754-6E6C72E56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579BA-4DDE-4614-936A-8D9BB37CE8C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1B5286-38C8-76BC-43CA-7C1DA206D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6ED7D0-7D92-DD79-6C99-9E01E5511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E5220-36C5-4438-BBAD-DEDD24D9D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1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EB4E0F-3111-7E70-BDEE-81416F9F90B5}"/>
              </a:ext>
            </a:extLst>
          </p:cNvPr>
          <p:cNvSpPr/>
          <p:nvPr/>
        </p:nvSpPr>
        <p:spPr>
          <a:xfrm>
            <a:off x="736600" y="609600"/>
            <a:ext cx="2032000" cy="355600"/>
          </a:xfrm>
          <a:prstGeom prst="round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AX CASE STUDY · 10~12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4D2AF-2A9A-9F2A-F046-332561566F0E}"/>
              </a:ext>
            </a:extLst>
          </p:cNvPr>
          <p:cNvSpPr txBox="1"/>
          <p:nvPr/>
        </p:nvSpPr>
        <p:spPr>
          <a:xfrm>
            <a:off x="736600" y="1549400"/>
            <a:ext cx="7747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500">
                <a:solidFill>
                  <a:srgbClr val="4D586A"/>
                </a:solidFill>
                <a:latin typeface="Malgun Gothic" panose="020B0503020000020004" pitchFamily="50" charset="-127"/>
              </a:rPr>
              <a:t>환율 사이트를 만들며 배운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3610C-0A67-10E5-0769-94B1274B315C}"/>
              </a:ext>
            </a:extLst>
          </p:cNvPr>
          <p:cNvSpPr txBox="1"/>
          <p:nvPr/>
        </p:nvSpPr>
        <p:spPr>
          <a:xfrm>
            <a:off x="736600" y="2159000"/>
            <a:ext cx="7747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48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4800" b="1">
                <a:solidFill>
                  <a:srgbClr val="172033"/>
                </a:solidFill>
                <a:latin typeface="Malgun Gothic" panose="020B0503020000020004" pitchFamily="50" charset="-127"/>
              </a:rPr>
              <a:t>의 실제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E113D-720E-0691-8AF1-31F796C51807}"/>
              </a:ext>
            </a:extLst>
          </p:cNvPr>
          <p:cNvSpPr txBox="1"/>
          <p:nvPr/>
        </p:nvSpPr>
        <p:spPr>
          <a:xfrm>
            <a:off x="774700" y="3479800"/>
            <a:ext cx="787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24736B"/>
                </a:solidFill>
                <a:latin typeface="Malgun Gothic" panose="020B0503020000020004" pitchFamily="50" charset="-127"/>
              </a:rPr>
              <a:t>무엇을 만들었는가보다</a:t>
            </a:r>
            <a:r>
              <a:rPr lang="en-US" altLang="ko-KR" sz="2000" b="1">
                <a:solidFill>
                  <a:srgbClr val="2473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24736B"/>
                </a:solidFill>
                <a:latin typeface="Malgun Gothic" panose="020B0503020000020004" pitchFamily="50" charset="-127"/>
              </a:rPr>
              <a:t>현업의 일을 어떻게 바꿨는가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4599856-8684-3CBB-8F8B-C0C5FB99DDDF}"/>
              </a:ext>
            </a:extLst>
          </p:cNvPr>
          <p:cNvSpPr/>
          <p:nvPr/>
        </p:nvSpPr>
        <p:spPr>
          <a:xfrm>
            <a:off x="736600" y="4368800"/>
            <a:ext cx="9144000" cy="1168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8C13E-D7B8-0B94-18C4-F27A81C8DC12}"/>
              </a:ext>
            </a:extLst>
          </p:cNvPr>
          <p:cNvSpPr txBox="1"/>
          <p:nvPr/>
        </p:nvSpPr>
        <p:spPr>
          <a:xfrm>
            <a:off x="1041400" y="4699000"/>
            <a:ext cx="8509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는 현업의 반복 업무와 판단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공유 방식을 다시 설계하는 일입니다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.”</a:t>
            </a:r>
            <a:endParaRPr lang="ko-KR" altLang="en-US" sz="19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CA804-1DE9-CAA0-73F9-C9F07C2513C7}"/>
              </a:ext>
            </a:extLst>
          </p:cNvPr>
          <p:cNvSpPr txBox="1"/>
          <p:nvPr/>
        </p:nvSpPr>
        <p:spPr>
          <a:xfrm>
            <a:off x="762000" y="5918200"/>
            <a:ext cx="762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697386"/>
                </a:solidFill>
                <a:latin typeface="Malgun Gothic" panose="020B0503020000020004" pitchFamily="50" charset="-127"/>
              </a:rPr>
              <a:t>LatamFX</a:t>
            </a:r>
            <a:r>
              <a:rPr lang="ko-KR" altLang="en-US" sz="1100">
                <a:solidFill>
                  <a:srgbClr val="697386"/>
                </a:solidFill>
                <a:latin typeface="Malgun Gothic" panose="020B0503020000020004" pitchFamily="50" charset="-127"/>
              </a:rPr>
              <a:t>는 주인공이 아니라</a:t>
            </a:r>
            <a:r>
              <a:rPr lang="en-US" altLang="ko-KR" sz="1100">
                <a:solidFill>
                  <a:srgbClr val="69738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97386"/>
                </a:solidFill>
                <a:latin typeface="Malgun Gothic" panose="020B0503020000020004" pitchFamily="50" charset="-127"/>
              </a:rPr>
              <a:t>이 생각을 검증한 사례입니다</a:t>
            </a:r>
            <a:r>
              <a:rPr lang="en-US" altLang="ko-KR" sz="1100">
                <a:solidFill>
                  <a:srgbClr val="697386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276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D568A-3C02-E9E2-A6D1-A95ED8BAFA51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01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2E046-C620-7622-AD6D-0B6E0B1CC2F0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528AF-4D06-02A2-12F1-2C78C84AF29B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출발점은 </a:t>
            </a:r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가 아니라 현업의 불편이었다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0C64E-127E-E19B-0D9F-3681580C9B19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기술을 먼저 고르지 않고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사람이 매일 붙잡혀 있는 흐름을 먼저 본다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F0F73E0-B290-65C2-C014-85FA6B7892FE}"/>
              </a:ext>
            </a:extLst>
          </p:cNvPr>
          <p:cNvSpPr/>
          <p:nvPr/>
        </p:nvSpPr>
        <p:spPr>
          <a:xfrm>
            <a:off x="825500" y="2413000"/>
            <a:ext cx="1714500" cy="660400"/>
          </a:xfrm>
          <a:prstGeom prst="round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검색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7C2EA73-FE96-3A8F-D05A-CB67ECFE91B0}"/>
              </a:ext>
            </a:extLst>
          </p:cNvPr>
          <p:cNvCxnSpPr/>
          <p:nvPr/>
        </p:nvCxnSpPr>
        <p:spPr>
          <a:xfrm>
            <a:off x="2578100" y="2743200"/>
            <a:ext cx="3429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6DFFA9-13FC-F576-EF58-25D2F9628999}"/>
              </a:ext>
            </a:extLst>
          </p:cNvPr>
          <p:cNvSpPr/>
          <p:nvPr/>
        </p:nvSpPr>
        <p:spPr>
          <a:xfrm>
            <a:off x="2984500" y="2413000"/>
            <a:ext cx="1714500" cy="660400"/>
          </a:xfrm>
          <a:prstGeom prst="roundRect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계산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AAEAC09-F970-9611-68CA-D996BF31E9AB}"/>
              </a:ext>
            </a:extLst>
          </p:cNvPr>
          <p:cNvCxnSpPr/>
          <p:nvPr/>
        </p:nvCxnSpPr>
        <p:spPr>
          <a:xfrm>
            <a:off x="4737100" y="2743200"/>
            <a:ext cx="3429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4BC50C-492D-CA68-927F-0EA1C1F35B68}"/>
              </a:ext>
            </a:extLst>
          </p:cNvPr>
          <p:cNvSpPr/>
          <p:nvPr/>
        </p:nvSpPr>
        <p:spPr>
          <a:xfrm>
            <a:off x="5143500" y="2413000"/>
            <a:ext cx="1714500" cy="660400"/>
          </a:xfrm>
          <a:prstGeom prst="round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비교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EF71335-EA6E-AFDF-1B9A-5A26A8B8ABF7}"/>
              </a:ext>
            </a:extLst>
          </p:cNvPr>
          <p:cNvCxnSpPr/>
          <p:nvPr/>
        </p:nvCxnSpPr>
        <p:spPr>
          <a:xfrm>
            <a:off x="6896100" y="2743200"/>
            <a:ext cx="3429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86A61CE-B08F-91E5-4E79-574F1C2EF6B0}"/>
              </a:ext>
            </a:extLst>
          </p:cNvPr>
          <p:cNvSpPr/>
          <p:nvPr/>
        </p:nvSpPr>
        <p:spPr>
          <a:xfrm>
            <a:off x="7302500" y="2413000"/>
            <a:ext cx="1714500" cy="660400"/>
          </a:xfrm>
          <a:prstGeom prst="round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판단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A279BB-A58B-9FB7-1E21-08E7EEB2AE9F}"/>
              </a:ext>
            </a:extLst>
          </p:cNvPr>
          <p:cNvCxnSpPr/>
          <p:nvPr/>
        </p:nvCxnSpPr>
        <p:spPr>
          <a:xfrm>
            <a:off x="9055100" y="2743200"/>
            <a:ext cx="3429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301DC4-556A-DCF8-11A6-2FC7DBE050E5}"/>
              </a:ext>
            </a:extLst>
          </p:cNvPr>
          <p:cNvSpPr/>
          <p:nvPr/>
        </p:nvSpPr>
        <p:spPr>
          <a:xfrm>
            <a:off x="9461500" y="2413000"/>
            <a:ext cx="1714500" cy="660400"/>
          </a:xfrm>
          <a:prstGeom prst="round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공유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324A23-C827-69A6-063C-CB846B6AC740}"/>
              </a:ext>
            </a:extLst>
          </p:cNvPr>
          <p:cNvSpPr/>
          <p:nvPr/>
        </p:nvSpPr>
        <p:spPr>
          <a:xfrm>
            <a:off x="825500" y="38354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678488-0039-A60B-0677-EFD043215DE4}"/>
              </a:ext>
            </a:extLst>
          </p:cNvPr>
          <p:cNvSpPr/>
          <p:nvPr/>
        </p:nvSpPr>
        <p:spPr>
          <a:xfrm>
            <a:off x="825500" y="3835400"/>
            <a:ext cx="76200" cy="15875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4DD68-AE65-C4B5-536D-27D05EDF1087}"/>
              </a:ext>
            </a:extLst>
          </p:cNvPr>
          <p:cNvSpPr txBox="1"/>
          <p:nvPr/>
        </p:nvSpPr>
        <p:spPr>
          <a:xfrm>
            <a:off x="1079500" y="40259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반복의 비용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67BD62-8EAF-A417-692C-E787EDDB47B4}"/>
              </a:ext>
            </a:extLst>
          </p:cNvPr>
          <p:cNvSpPr txBox="1"/>
          <p:nvPr/>
        </p:nvSpPr>
        <p:spPr>
          <a:xfrm>
            <a:off x="1079500" y="4457700"/>
            <a:ext cx="27178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각 단계는 어렵지 않지만 매일 쌓이고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숫자 이동 과정에서 오류가 생깁니다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1894536-3612-68AA-6133-590D33CADE2C}"/>
              </a:ext>
            </a:extLst>
          </p:cNvPr>
          <p:cNvSpPr/>
          <p:nvPr/>
        </p:nvSpPr>
        <p:spPr>
          <a:xfrm>
            <a:off x="4508500" y="38354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6C26BC-C95F-0F55-5821-15203B3854B2}"/>
              </a:ext>
            </a:extLst>
          </p:cNvPr>
          <p:cNvSpPr/>
          <p:nvPr/>
        </p:nvSpPr>
        <p:spPr>
          <a:xfrm>
            <a:off x="4508500" y="3835400"/>
            <a:ext cx="76200" cy="15875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7F37BE-2419-9D6B-E05D-C2934C1B15AB}"/>
              </a:ext>
            </a:extLst>
          </p:cNvPr>
          <p:cNvSpPr txBox="1"/>
          <p:nvPr/>
        </p:nvSpPr>
        <p:spPr>
          <a:xfrm>
            <a:off x="4762500" y="40259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판단의 편차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6EECE-13B4-7CF8-A0DB-8DA86342B986}"/>
              </a:ext>
            </a:extLst>
          </p:cNvPr>
          <p:cNvSpPr txBox="1"/>
          <p:nvPr/>
        </p:nvSpPr>
        <p:spPr>
          <a:xfrm>
            <a:off x="4762500" y="4457700"/>
            <a:ext cx="27178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사람마다 비교 기준과 주목하는 통화가 달라 같은 데이터로 다른 대화를 할 수 있습니다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024051E-C3FD-10F0-D0BF-B9A51265133C}"/>
              </a:ext>
            </a:extLst>
          </p:cNvPr>
          <p:cNvSpPr/>
          <p:nvPr/>
        </p:nvSpPr>
        <p:spPr>
          <a:xfrm>
            <a:off x="8191500" y="38354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25534C-9F4E-BCD7-3A83-99A40EAE2C45}"/>
              </a:ext>
            </a:extLst>
          </p:cNvPr>
          <p:cNvSpPr/>
          <p:nvPr/>
        </p:nvSpPr>
        <p:spPr>
          <a:xfrm>
            <a:off x="8191500" y="3835400"/>
            <a:ext cx="76200" cy="15875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E21FBC-4649-298C-5F1B-6D1691CB9A5D}"/>
              </a:ext>
            </a:extLst>
          </p:cNvPr>
          <p:cNvSpPr txBox="1"/>
          <p:nvPr/>
        </p:nvSpPr>
        <p:spPr>
          <a:xfrm>
            <a:off x="8445500" y="40259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의 첫 질문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CE050D-C429-F171-EF12-903786D1873E}"/>
              </a:ext>
            </a:extLst>
          </p:cNvPr>
          <p:cNvSpPr txBox="1"/>
          <p:nvPr/>
        </p:nvSpPr>
        <p:spPr>
          <a:xfrm>
            <a:off x="8445500" y="4457700"/>
            <a:ext cx="27178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로 무엇을 할까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?”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보다 “어떤 반복이 중요한 판단을 방해하는가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?”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E38C37-DF8D-DD60-0D9F-5D2551A0A6ED}"/>
              </a:ext>
            </a:extLst>
          </p:cNvPr>
          <p:cNvSpPr txBox="1"/>
          <p:nvPr/>
        </p:nvSpPr>
        <p:spPr>
          <a:xfrm>
            <a:off x="711200" y="6413500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LatamFX AX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사례 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165354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D5DFA1-0C92-4AB7-E9E9-ABAEB0B21DE6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02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5AFAD-0E7E-2C11-6902-1A4909366C1D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845D1-D594-BE5D-11C5-642455852CDD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바이브 코딩은 목적이 아니라 빠른 실험 수단이다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455D3-040D-6C91-9579-4C51B1E50B09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자연어로 요구를 설명하고 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와 대화하며 작동하는 시제품을 빠르게 만든다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BDAA7F3-8C82-94FF-03F7-46A0B75FCB1D}"/>
              </a:ext>
            </a:extLst>
          </p:cNvPr>
          <p:cNvSpPr/>
          <p:nvPr/>
        </p:nvSpPr>
        <p:spPr>
          <a:xfrm>
            <a:off x="889000" y="2222500"/>
            <a:ext cx="31115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C35259-4C53-6FA1-CCD7-E5E9F28A1379}"/>
              </a:ext>
            </a:extLst>
          </p:cNvPr>
          <p:cNvSpPr/>
          <p:nvPr/>
        </p:nvSpPr>
        <p:spPr>
          <a:xfrm>
            <a:off x="889000" y="2222500"/>
            <a:ext cx="76200" cy="2667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C1D22-538B-A37A-B326-6FA0F556BB41}"/>
              </a:ext>
            </a:extLst>
          </p:cNvPr>
          <p:cNvSpPr txBox="1"/>
          <p:nvPr/>
        </p:nvSpPr>
        <p:spPr>
          <a:xfrm>
            <a:off x="1143000" y="2413000"/>
            <a:ext cx="26543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가 잘하는 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D3F40-4833-4E22-8532-2F6A515548AE}"/>
              </a:ext>
            </a:extLst>
          </p:cNvPr>
          <p:cNvSpPr txBox="1"/>
          <p:nvPr/>
        </p:nvSpPr>
        <p:spPr>
          <a:xfrm>
            <a:off x="1143000" y="2844800"/>
            <a:ext cx="26543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코드 초안 만들기</a:t>
            </a:r>
          </a:p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시제품 속도 높이기</a:t>
            </a:r>
          </a:p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수정안을 빠르게 반복하기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640DAC-F187-968A-E7AB-A10DF05F4370}"/>
              </a:ext>
            </a:extLst>
          </p:cNvPr>
          <p:cNvSpPr/>
          <p:nvPr/>
        </p:nvSpPr>
        <p:spPr>
          <a:xfrm>
            <a:off x="4533900" y="2222500"/>
            <a:ext cx="31115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BCF40E-7548-786F-E13E-7730D6FB6C23}"/>
              </a:ext>
            </a:extLst>
          </p:cNvPr>
          <p:cNvSpPr/>
          <p:nvPr/>
        </p:nvSpPr>
        <p:spPr>
          <a:xfrm>
            <a:off x="4533900" y="2222500"/>
            <a:ext cx="76200" cy="26670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01FCC-F225-5683-B38F-798CBCA5DAFC}"/>
              </a:ext>
            </a:extLst>
          </p:cNvPr>
          <p:cNvSpPr txBox="1"/>
          <p:nvPr/>
        </p:nvSpPr>
        <p:spPr>
          <a:xfrm>
            <a:off x="4787900" y="2413000"/>
            <a:ext cx="26543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사람이 책임질 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9D6CEF-720B-36AE-9583-0ECCEF1D90F5}"/>
              </a:ext>
            </a:extLst>
          </p:cNvPr>
          <p:cNvSpPr txBox="1"/>
          <p:nvPr/>
        </p:nvSpPr>
        <p:spPr>
          <a:xfrm>
            <a:off x="4787900" y="2844800"/>
            <a:ext cx="26543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문제 정의하기</a:t>
            </a:r>
          </a:p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데이터와 계산 검증하기</a:t>
            </a:r>
          </a:p>
          <a:p>
            <a:r>
              <a:rPr lang="ko-KR" altLang="en-US" sz="1600">
                <a:solidFill>
                  <a:srgbClr val="4D586A"/>
                </a:solidFill>
                <a:latin typeface="Malgun Gothic" panose="020B0503020000020004" pitchFamily="50" charset="-127"/>
              </a:rPr>
              <a:t>업무 적용 여부 판단하기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146B513-FBA5-5CF8-8E64-149587E1C0E6}"/>
              </a:ext>
            </a:extLst>
          </p:cNvPr>
          <p:cNvSpPr/>
          <p:nvPr/>
        </p:nvSpPr>
        <p:spPr>
          <a:xfrm>
            <a:off x="8178800" y="2222500"/>
            <a:ext cx="31115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79FDC8-DF58-87B3-F5B3-15BADC285383}"/>
              </a:ext>
            </a:extLst>
          </p:cNvPr>
          <p:cNvSpPr/>
          <p:nvPr/>
        </p:nvSpPr>
        <p:spPr>
          <a:xfrm>
            <a:off x="8178800" y="2222500"/>
            <a:ext cx="76200" cy="2667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6FBB02-30FD-0FE1-7A34-5EE52957109E}"/>
              </a:ext>
            </a:extLst>
          </p:cNvPr>
          <p:cNvSpPr txBox="1"/>
          <p:nvPr/>
        </p:nvSpPr>
        <p:spPr>
          <a:xfrm>
            <a:off x="8432800" y="2413000"/>
            <a:ext cx="26543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바이브 코딩의 가치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13AEB8-BAA6-1DBC-EF39-E4F3D825061F}"/>
              </a:ext>
            </a:extLst>
          </p:cNvPr>
          <p:cNvSpPr txBox="1"/>
          <p:nvPr/>
        </p:nvSpPr>
        <p:spPr>
          <a:xfrm>
            <a:off x="8432800" y="2844800"/>
            <a:ext cx="26543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D586A"/>
                </a:solidFill>
                <a:latin typeface="Malgun Gothic" panose="020B0503020000020004" pitchFamily="50" charset="-127"/>
              </a:rPr>
              <a:t>완성품을 단번에 만드는 것이 아니라</a:t>
            </a:r>
            <a:r>
              <a:rPr lang="en-US" altLang="ko-KR" sz="15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D586A"/>
                </a:solidFill>
                <a:latin typeface="Malgun Gothic" panose="020B0503020000020004" pitchFamily="50" charset="-127"/>
              </a:rPr>
              <a:t>가설을 싸게 시험하고 틀린 부분을 빨리 발견하는 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30C20C-5124-128A-2B10-EC4DC3ADF847}"/>
              </a:ext>
            </a:extLst>
          </p:cNvPr>
          <p:cNvSpPr txBox="1"/>
          <p:nvPr/>
        </p:nvSpPr>
        <p:spPr>
          <a:xfrm>
            <a:off x="3683000" y="5435600"/>
            <a:ext cx="4826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172033"/>
                </a:solidFill>
                <a:latin typeface="Malgun Gothic" panose="020B0503020000020004" pitchFamily="50" charset="-127"/>
              </a:rPr>
              <a:t>속도 ≠ 신뢰성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E6EA5C-0BF1-2813-BA68-55B2815AB9DC}"/>
              </a:ext>
            </a:extLst>
          </p:cNvPr>
          <p:cNvSpPr txBox="1"/>
          <p:nvPr/>
        </p:nvSpPr>
        <p:spPr>
          <a:xfrm>
            <a:off x="2730500" y="5969000"/>
            <a:ext cx="673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697386"/>
                </a:solidFill>
                <a:latin typeface="Malgun Gothic" panose="020B0503020000020004" pitchFamily="50" charset="-127"/>
              </a:rPr>
              <a:t>빠르게 만들수록 검증 기준과 책임은 더 명확해야 합니다</a:t>
            </a:r>
            <a:r>
              <a:rPr lang="en-US" altLang="ko-KR" sz="1300">
                <a:solidFill>
                  <a:srgbClr val="697386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96C3B-F530-AC7C-88A6-3C9A7C67E3FB}"/>
              </a:ext>
            </a:extLst>
          </p:cNvPr>
          <p:cNvSpPr txBox="1"/>
          <p:nvPr/>
        </p:nvSpPr>
        <p:spPr>
          <a:xfrm>
            <a:off x="711200" y="6413500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LatamFX AX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사례 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바이브 코딩의 역할</a:t>
            </a:r>
          </a:p>
        </p:txBody>
      </p:sp>
    </p:spTree>
    <p:extLst>
      <p:ext uri="{BB962C8B-B14F-4D97-AF65-F5344CB8AC3E}">
        <p14:creationId xmlns:p14="http://schemas.microsoft.com/office/powerpoint/2010/main" val="418916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53364-0253-CD75-AC0E-307E55230766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03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04184-DC13-C1ED-4A71-340D4D49C841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E7D6E-B8EC-426C-4230-C172FE3427AE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LatamFX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는 이렇게 업무를 바꿨다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DED1F-3891-A85C-8854-8DD735548453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기능의 수보다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사용자가 어떤 판단으로 더 빨리 이동했는가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419922-EEA8-D342-ACB5-4CAEB11064C9}"/>
              </a:ext>
            </a:extLst>
          </p:cNvPr>
          <p:cNvSpPr/>
          <p:nvPr/>
        </p:nvSpPr>
        <p:spPr>
          <a:xfrm>
            <a:off x="635000" y="2070100"/>
            <a:ext cx="6731000" cy="4254500"/>
          </a:xfrm>
          <a:prstGeom prst="roundRect">
            <a:avLst/>
          </a:prstGeom>
          <a:solidFill>
            <a:srgbClr val="FFFFFF"/>
          </a:solidFill>
          <a:ln>
            <a:solidFill>
              <a:srgbClr val="D9D7CF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659938-CA67-F026-11D0-9A0F2953A9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33600"/>
            <a:ext cx="6604000" cy="41275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59A6E3-40AA-0D59-4F6A-A45B592695C6}"/>
              </a:ext>
            </a:extLst>
          </p:cNvPr>
          <p:cNvSpPr/>
          <p:nvPr/>
        </p:nvSpPr>
        <p:spPr>
          <a:xfrm>
            <a:off x="7810500" y="2070100"/>
            <a:ext cx="1676400" cy="355600"/>
          </a:xfrm>
          <a:prstGeom prst="round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시연은 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60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초 이내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194BDB8-86D0-CAAD-68EF-281A0F4D0F52}"/>
              </a:ext>
            </a:extLst>
          </p:cNvPr>
          <p:cNvSpPr/>
          <p:nvPr/>
        </p:nvSpPr>
        <p:spPr>
          <a:xfrm>
            <a:off x="7810500" y="2628900"/>
            <a:ext cx="368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0C5DE4-B0B1-F4F0-65E2-BC6919EC76EF}"/>
              </a:ext>
            </a:extLst>
          </p:cNvPr>
          <p:cNvSpPr/>
          <p:nvPr/>
        </p:nvSpPr>
        <p:spPr>
          <a:xfrm>
            <a:off x="7810500" y="2628900"/>
            <a:ext cx="76200" cy="9144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8A9BD-D106-5F9A-49F7-093F3CA72338}"/>
              </a:ext>
            </a:extLst>
          </p:cNvPr>
          <p:cNvSpPr txBox="1"/>
          <p:nvPr/>
        </p:nvSpPr>
        <p:spPr>
          <a:xfrm>
            <a:off x="8064500" y="2819400"/>
            <a:ext cx="3225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1 · MoM</a:t>
            </a:r>
            <a:endParaRPr lang="ko-KR" altLang="en-US" sz="16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E4DDE-76EE-CC47-76E9-FDC5BAB22E43}"/>
              </a:ext>
            </a:extLst>
          </p:cNvPr>
          <p:cNvSpPr txBox="1"/>
          <p:nvPr/>
        </p:nvSpPr>
        <p:spPr>
          <a:xfrm>
            <a:off x="8064500" y="3251200"/>
            <a:ext cx="322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D586A"/>
                </a:solidFill>
                <a:latin typeface="Malgun Gothic" panose="020B0503020000020004" pitchFamily="50" charset="-127"/>
              </a:rPr>
              <a:t>최근 방향이 강세인지 약세인지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A908169-7087-3719-F76C-15EC2DFD9C19}"/>
              </a:ext>
            </a:extLst>
          </p:cNvPr>
          <p:cNvSpPr/>
          <p:nvPr/>
        </p:nvSpPr>
        <p:spPr>
          <a:xfrm>
            <a:off x="7810500" y="3708400"/>
            <a:ext cx="368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69EECB-7A7A-9C1D-3120-10C7AEB9D1BD}"/>
              </a:ext>
            </a:extLst>
          </p:cNvPr>
          <p:cNvSpPr/>
          <p:nvPr/>
        </p:nvSpPr>
        <p:spPr>
          <a:xfrm>
            <a:off x="7810500" y="3708400"/>
            <a:ext cx="76200" cy="9144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838EB8-0301-2A68-33E9-E779C2261E08}"/>
              </a:ext>
            </a:extLst>
          </p:cNvPr>
          <p:cNvSpPr txBox="1"/>
          <p:nvPr/>
        </p:nvSpPr>
        <p:spPr>
          <a:xfrm>
            <a:off x="8064500" y="3898900"/>
            <a:ext cx="3225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2 · 52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주 위치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E3B5E9-AC64-2445-8C34-CE38AB09B56D}"/>
              </a:ext>
            </a:extLst>
          </p:cNvPr>
          <p:cNvSpPr txBox="1"/>
          <p:nvPr/>
        </p:nvSpPr>
        <p:spPr>
          <a:xfrm>
            <a:off x="8064500" y="4330700"/>
            <a:ext cx="322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D586A"/>
                </a:solidFill>
                <a:latin typeface="Malgun Gothic" panose="020B0503020000020004" pitchFamily="50" charset="-127"/>
              </a:rPr>
              <a:t>오늘 숫자가 </a:t>
            </a:r>
            <a:r>
              <a:rPr lang="en-US" altLang="ko-KR" sz="1200">
                <a:solidFill>
                  <a:srgbClr val="4D586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4D586A"/>
                </a:solidFill>
                <a:latin typeface="Malgun Gothic" panose="020B0503020000020004" pitchFamily="50" charset="-127"/>
              </a:rPr>
              <a:t>년 중 높은지 낮은지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9C75256-9A03-8627-1308-4EE0CC147557}"/>
              </a:ext>
            </a:extLst>
          </p:cNvPr>
          <p:cNvSpPr/>
          <p:nvPr/>
        </p:nvSpPr>
        <p:spPr>
          <a:xfrm>
            <a:off x="7810500" y="4787900"/>
            <a:ext cx="368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3DB7B7-FAAC-20B0-A0F9-D44381D316D1}"/>
              </a:ext>
            </a:extLst>
          </p:cNvPr>
          <p:cNvSpPr/>
          <p:nvPr/>
        </p:nvSpPr>
        <p:spPr>
          <a:xfrm>
            <a:off x="7810500" y="4787900"/>
            <a:ext cx="76200" cy="9144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04397-248A-0289-CD08-A8DEF3F143B3}"/>
              </a:ext>
            </a:extLst>
          </p:cNvPr>
          <p:cNvSpPr txBox="1"/>
          <p:nvPr/>
        </p:nvSpPr>
        <p:spPr>
          <a:xfrm>
            <a:off x="8064500" y="4978400"/>
            <a:ext cx="3225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3 · 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계획 대비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0AB46-29E5-C1D9-F2AB-80DE6DA6B5C5}"/>
              </a:ext>
            </a:extLst>
          </p:cNvPr>
          <p:cNvSpPr txBox="1"/>
          <p:nvPr/>
        </p:nvSpPr>
        <p:spPr>
          <a:xfrm>
            <a:off x="8064500" y="5410200"/>
            <a:ext cx="322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D586A"/>
                </a:solidFill>
                <a:latin typeface="Malgun Gothic" panose="020B0503020000020004" pitchFamily="50" charset="-127"/>
              </a:rPr>
              <a:t>시장 움직임을 회사의 계획과 연결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72A026-F977-CCF5-9C1F-25D7D608C607}"/>
              </a:ext>
            </a:extLst>
          </p:cNvPr>
          <p:cNvSpPr txBox="1"/>
          <p:nvPr/>
        </p:nvSpPr>
        <p:spPr>
          <a:xfrm>
            <a:off x="7797800" y="5905500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172033"/>
                </a:solidFill>
                <a:latin typeface="Malgun Gothic" panose="020B0503020000020004" pitchFamily="50" charset="-127"/>
              </a:rPr>
              <a:t>검색과 계산에서 → “무엇을 먼저 볼까</a:t>
            </a:r>
            <a:r>
              <a:rPr lang="en-US" altLang="ko-KR" sz="1400" b="1">
                <a:solidFill>
                  <a:srgbClr val="172033"/>
                </a:solidFill>
                <a:latin typeface="Malgun Gothic" panose="020B0503020000020004" pitchFamily="50" charset="-127"/>
              </a:rPr>
              <a:t>?”</a:t>
            </a:r>
            <a:r>
              <a:rPr lang="ko-KR" altLang="en-US" sz="1400" b="1">
                <a:solidFill>
                  <a:srgbClr val="172033"/>
                </a:solidFill>
                <a:latin typeface="Malgun Gothic" panose="020B0503020000020004" pitchFamily="50" charset="-127"/>
              </a:rPr>
              <a:t>로</a:t>
            </a:r>
          </a:p>
        </p:txBody>
      </p:sp>
    </p:spTree>
    <p:extLst>
      <p:ext uri="{BB962C8B-B14F-4D97-AF65-F5344CB8AC3E}">
        <p14:creationId xmlns:p14="http://schemas.microsoft.com/office/powerpoint/2010/main" val="27956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23F6F-4944-2ACB-A1D7-1625F072EA0C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04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E45FE-1944-1F95-5BC6-871ADC494AD0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E635B-872C-07BE-1F67-7F7B6F96D844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LatamFX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를 움직이는 연결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0A0F5-534D-EB54-2DC2-90A3EDFCA4C3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화면 하나가 아니라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각 역할이 이어져 하나의 업무 흐름을 만든다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1266599-267B-6248-89B4-1929EBD77F96}"/>
              </a:ext>
            </a:extLst>
          </p:cNvPr>
          <p:cNvCxnSpPr/>
          <p:nvPr/>
        </p:nvCxnSpPr>
        <p:spPr>
          <a:xfrm>
            <a:off x="1714500" y="3022600"/>
            <a:ext cx="0" cy="558800"/>
          </a:xfrm>
          <a:prstGeom prst="line">
            <a:avLst/>
          </a:prstGeom>
          <a:ln w="25400">
            <a:solidFill>
              <a:srgbClr val="355F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F997C6B-E480-E060-3536-FDA8018E1803}"/>
              </a:ext>
            </a:extLst>
          </p:cNvPr>
          <p:cNvSpPr/>
          <p:nvPr/>
        </p:nvSpPr>
        <p:spPr>
          <a:xfrm>
            <a:off x="1841500" y="3162300"/>
            <a:ext cx="9144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환율 제공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3954F96-1EF2-F64E-2C35-1400FEF2E118}"/>
              </a:ext>
            </a:extLst>
          </p:cNvPr>
          <p:cNvCxnSpPr/>
          <p:nvPr/>
        </p:nvCxnSpPr>
        <p:spPr>
          <a:xfrm flipH="1">
            <a:off x="2857500" y="2565400"/>
            <a:ext cx="2095500" cy="1333500"/>
          </a:xfrm>
          <a:prstGeom prst="line">
            <a:avLst/>
          </a:prstGeom>
          <a:ln w="25400">
            <a:solidFill>
              <a:srgbClr val="3D728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D21D7AE-BBCC-BF9E-FEEA-676E039624C4}"/>
              </a:ext>
            </a:extLst>
          </p:cNvPr>
          <p:cNvSpPr/>
          <p:nvPr/>
        </p:nvSpPr>
        <p:spPr>
          <a:xfrm>
            <a:off x="3390900" y="2933700"/>
            <a:ext cx="11684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매일 자동 실행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46B4AF-0279-DBC4-BEC3-037A67E57E5C}"/>
              </a:ext>
            </a:extLst>
          </p:cNvPr>
          <p:cNvCxnSpPr/>
          <p:nvPr/>
        </p:nvCxnSpPr>
        <p:spPr>
          <a:xfrm>
            <a:off x="7239000" y="2565400"/>
            <a:ext cx="2095500" cy="127000"/>
          </a:xfrm>
          <a:prstGeom prst="line">
            <a:avLst/>
          </a:prstGeom>
          <a:ln w="25400">
            <a:solidFill>
              <a:srgbClr val="2473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8A8C023-5805-9568-382C-4EE4E379FB19}"/>
              </a:ext>
            </a:extLst>
          </p:cNvPr>
          <p:cNvSpPr/>
          <p:nvPr/>
        </p:nvSpPr>
        <p:spPr>
          <a:xfrm>
            <a:off x="7810500" y="2298700"/>
            <a:ext cx="9144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코드 배포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BC4747-0100-1AA2-F30A-BA73FC1C121A}"/>
              </a:ext>
            </a:extLst>
          </p:cNvPr>
          <p:cNvCxnSpPr/>
          <p:nvPr/>
        </p:nvCxnSpPr>
        <p:spPr>
          <a:xfrm flipH="1">
            <a:off x="7493000" y="3098800"/>
            <a:ext cx="1841500" cy="584200"/>
          </a:xfrm>
          <a:prstGeom prst="line">
            <a:avLst/>
          </a:prstGeom>
          <a:ln w="25400">
            <a:solidFill>
              <a:srgbClr val="2473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B6269DF-CB2D-EA51-69BC-43DBA7E1098F}"/>
              </a:ext>
            </a:extLst>
          </p:cNvPr>
          <p:cNvSpPr/>
          <p:nvPr/>
        </p:nvSpPr>
        <p:spPr>
          <a:xfrm>
            <a:off x="7962900" y="3225800"/>
            <a:ext cx="11430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웹사이트 제공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7A15AC-3603-43F1-E5B5-F79B98EB308E}"/>
              </a:ext>
            </a:extLst>
          </p:cNvPr>
          <p:cNvCxnSpPr/>
          <p:nvPr/>
        </p:nvCxnSpPr>
        <p:spPr>
          <a:xfrm>
            <a:off x="2857500" y="4279900"/>
            <a:ext cx="1778000" cy="1282700"/>
          </a:xfrm>
          <a:prstGeom prst="line">
            <a:avLst/>
          </a:prstGeom>
          <a:ln w="25400">
            <a:solidFill>
              <a:srgbClr val="765C7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888A1B1-14CF-FE97-2C2E-5AEE8778CE5A}"/>
              </a:ext>
            </a:extLst>
          </p:cNvPr>
          <p:cNvSpPr/>
          <p:nvPr/>
        </p:nvSpPr>
        <p:spPr>
          <a:xfrm>
            <a:off x="3098800" y="4749800"/>
            <a:ext cx="12700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환율 계산</a:t>
            </a:r>
            <a:r>
              <a:rPr lang="en-US" altLang="ko-KR" sz="900" b="1">
                <a:solidFill>
                  <a:srgbClr val="69738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적재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7FFD041-D583-0A16-C324-A3E9FC42236B}"/>
              </a:ext>
            </a:extLst>
          </p:cNvPr>
          <p:cNvCxnSpPr/>
          <p:nvPr/>
        </p:nvCxnSpPr>
        <p:spPr>
          <a:xfrm flipV="1">
            <a:off x="6070600" y="4521200"/>
            <a:ext cx="0" cy="736600"/>
          </a:xfrm>
          <a:prstGeom prst="line">
            <a:avLst/>
          </a:prstGeom>
          <a:ln w="25400">
            <a:solidFill>
              <a:srgbClr val="765C7D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B42DED9-3668-8BAB-E1B5-EECD01965F32}"/>
              </a:ext>
            </a:extLst>
          </p:cNvPr>
          <p:cNvSpPr/>
          <p:nvPr/>
        </p:nvSpPr>
        <p:spPr>
          <a:xfrm>
            <a:off x="6235700" y="4699000"/>
            <a:ext cx="12700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환율</a:t>
            </a:r>
            <a:r>
              <a:rPr lang="en-US" altLang="ko-KR" sz="900" b="1">
                <a:solidFill>
                  <a:srgbClr val="69738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계획 조회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651A3AC-BB73-D80B-B48F-303AB7BD13C4}"/>
              </a:ext>
            </a:extLst>
          </p:cNvPr>
          <p:cNvCxnSpPr/>
          <p:nvPr/>
        </p:nvCxnSpPr>
        <p:spPr>
          <a:xfrm>
            <a:off x="6921500" y="5702300"/>
            <a:ext cx="571500" cy="0"/>
          </a:xfrm>
          <a:prstGeom prst="line">
            <a:avLst/>
          </a:prstGeom>
          <a:ln w="25400">
            <a:solidFill>
              <a:srgbClr val="A56A3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77A81D-9FD2-D462-F280-1535A3E36F35}"/>
              </a:ext>
            </a:extLst>
          </p:cNvPr>
          <p:cNvSpPr/>
          <p:nvPr/>
        </p:nvSpPr>
        <p:spPr>
          <a:xfrm>
            <a:off x="6807200" y="4953000"/>
            <a:ext cx="10414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데이터 조회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BAAF3DE-AD5D-0193-B950-FB6013BB380B}"/>
              </a:ext>
            </a:extLst>
          </p:cNvPr>
          <p:cNvCxnSpPr/>
          <p:nvPr/>
        </p:nvCxnSpPr>
        <p:spPr>
          <a:xfrm>
            <a:off x="9461500" y="5702300"/>
            <a:ext cx="444500" cy="0"/>
          </a:xfrm>
          <a:prstGeom prst="line">
            <a:avLst/>
          </a:prstGeom>
          <a:ln w="25400">
            <a:solidFill>
              <a:srgbClr val="A56A3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FB04E01-7721-C353-0501-648F0E31B620}"/>
              </a:ext>
            </a:extLst>
          </p:cNvPr>
          <p:cNvSpPr/>
          <p:nvPr/>
        </p:nvSpPr>
        <p:spPr>
          <a:xfrm>
            <a:off x="9207500" y="4953000"/>
            <a:ext cx="8890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메일 전달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B1DB747-CF2E-4516-DA2F-A99A51B5CD89}"/>
              </a:ext>
            </a:extLst>
          </p:cNvPr>
          <p:cNvCxnSpPr/>
          <p:nvPr/>
        </p:nvCxnSpPr>
        <p:spPr>
          <a:xfrm>
            <a:off x="7493000" y="4191000"/>
            <a:ext cx="2413000" cy="1270000"/>
          </a:xfrm>
          <a:prstGeom prst="line">
            <a:avLst/>
          </a:prstGeom>
          <a:ln w="25400">
            <a:solidFill>
              <a:srgbClr val="2473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4AB2FD-5CF2-2AB7-8643-348688681B5B}"/>
              </a:ext>
            </a:extLst>
          </p:cNvPr>
          <p:cNvSpPr/>
          <p:nvPr/>
        </p:nvSpPr>
        <p:spPr>
          <a:xfrm>
            <a:off x="8445500" y="4546600"/>
            <a:ext cx="889000" cy="254000"/>
          </a:xfrm>
          <a:prstGeom prst="roundRect">
            <a:avLst/>
          </a:prstGeom>
          <a:solidFill>
            <a:srgbClr val="F6F3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697386"/>
                </a:solidFill>
                <a:latin typeface="Malgun Gothic" panose="020B0503020000020004" pitchFamily="50" charset="-127"/>
              </a:rPr>
              <a:t>화면 확인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A1E62D-9236-64E8-A4BE-247D0417FABE}"/>
              </a:ext>
            </a:extLst>
          </p:cNvPr>
          <p:cNvSpPr/>
          <p:nvPr/>
        </p:nvSpPr>
        <p:spPr>
          <a:xfrm>
            <a:off x="571500" y="2159000"/>
            <a:ext cx="2286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6F4F15-E974-0A2E-EB10-BA220D6F7A64}"/>
              </a:ext>
            </a:extLst>
          </p:cNvPr>
          <p:cNvSpPr/>
          <p:nvPr/>
        </p:nvSpPr>
        <p:spPr>
          <a:xfrm>
            <a:off x="571500" y="2159000"/>
            <a:ext cx="76200" cy="8636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F3446E-6B17-0B80-E0D8-0BF06BF2904E}"/>
              </a:ext>
            </a:extLst>
          </p:cNvPr>
          <p:cNvSpPr txBox="1"/>
          <p:nvPr/>
        </p:nvSpPr>
        <p:spPr>
          <a:xfrm>
            <a:off x="774700" y="2324100"/>
            <a:ext cx="1879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환율 제공처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06ACB-ED9F-0447-73C2-0041639F6D4F}"/>
              </a:ext>
            </a:extLst>
          </p:cNvPr>
          <p:cNvSpPr txBox="1"/>
          <p:nvPr/>
        </p:nvSpPr>
        <p:spPr>
          <a:xfrm>
            <a:off x="749300" y="26924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원천 환율 제공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DF8DAB-42EF-B127-F9E9-109466FB5054}"/>
              </a:ext>
            </a:extLst>
          </p:cNvPr>
          <p:cNvSpPr/>
          <p:nvPr/>
        </p:nvSpPr>
        <p:spPr>
          <a:xfrm>
            <a:off x="571500" y="35814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D3B815-D508-8314-F929-9D88608972DD}"/>
              </a:ext>
            </a:extLst>
          </p:cNvPr>
          <p:cNvSpPr/>
          <p:nvPr/>
        </p:nvSpPr>
        <p:spPr>
          <a:xfrm>
            <a:off x="571500" y="3581400"/>
            <a:ext cx="76200" cy="990600"/>
          </a:xfrm>
          <a:prstGeom prst="rect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9E92BC-0A74-0C5B-A0D1-A472C8FFB2E8}"/>
              </a:ext>
            </a:extLst>
          </p:cNvPr>
          <p:cNvSpPr txBox="1"/>
          <p:nvPr/>
        </p:nvSpPr>
        <p:spPr>
          <a:xfrm>
            <a:off x="774700" y="3746500"/>
            <a:ext cx="1879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GitHub Actions</a:t>
            </a:r>
            <a:endParaRPr lang="ko-KR" altLang="en-US" sz="15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68D607-889E-BA74-DF96-1767512C62D9}"/>
              </a:ext>
            </a:extLst>
          </p:cNvPr>
          <p:cNvSpPr txBox="1"/>
          <p:nvPr/>
        </p:nvSpPr>
        <p:spPr>
          <a:xfrm>
            <a:off x="749300" y="41148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매일 수집</a:t>
            </a:r>
            <a:r>
              <a:rPr lang="en-US" altLang="ko-KR" sz="10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계산</a:t>
            </a:r>
            <a:r>
              <a:rPr lang="en-US" altLang="ko-KR" sz="1000">
                <a:solidFill>
                  <a:srgbClr val="4D586A"/>
                </a:solidFill>
                <a:latin typeface="Malgun Gothic" panose="020B0503020000020004" pitchFamily="50" charset="-127"/>
              </a:rPr>
              <a:t>·DB </a:t>
            </a:r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갱신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E805407-BDB2-9EB8-2FC6-AF8A3C6A4F2C}"/>
              </a:ext>
            </a:extLst>
          </p:cNvPr>
          <p:cNvSpPr/>
          <p:nvPr/>
        </p:nvSpPr>
        <p:spPr>
          <a:xfrm>
            <a:off x="4953000" y="2095500"/>
            <a:ext cx="2286000" cy="952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65E095-9112-B273-C89D-4DAF93C7D920}"/>
              </a:ext>
            </a:extLst>
          </p:cNvPr>
          <p:cNvSpPr/>
          <p:nvPr/>
        </p:nvSpPr>
        <p:spPr>
          <a:xfrm>
            <a:off x="4953000" y="2095500"/>
            <a:ext cx="76200" cy="9525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B741CB-E636-FE5A-F3EE-EC45219A7E9B}"/>
              </a:ext>
            </a:extLst>
          </p:cNvPr>
          <p:cNvSpPr txBox="1"/>
          <p:nvPr/>
        </p:nvSpPr>
        <p:spPr>
          <a:xfrm>
            <a:off x="5156200" y="2260600"/>
            <a:ext cx="1879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GitHub</a:t>
            </a:r>
            <a:endParaRPr lang="ko-KR" altLang="en-US" sz="15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AC159E-0672-32DA-B191-477FF56E463B}"/>
              </a:ext>
            </a:extLst>
          </p:cNvPr>
          <p:cNvSpPr txBox="1"/>
          <p:nvPr/>
        </p:nvSpPr>
        <p:spPr>
          <a:xfrm>
            <a:off x="5130800" y="26289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앱 코드</a:t>
            </a:r>
            <a:r>
              <a:rPr lang="en-US" altLang="ko-KR" sz="10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자동화 설정 보관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51556C4-5291-FE45-555E-37F7BE452DE4}"/>
              </a:ext>
            </a:extLst>
          </p:cNvPr>
          <p:cNvSpPr/>
          <p:nvPr/>
        </p:nvSpPr>
        <p:spPr>
          <a:xfrm>
            <a:off x="9334500" y="2222500"/>
            <a:ext cx="2286000" cy="952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D66BE0-0A57-E092-E84D-351AC502356B}"/>
              </a:ext>
            </a:extLst>
          </p:cNvPr>
          <p:cNvSpPr/>
          <p:nvPr/>
        </p:nvSpPr>
        <p:spPr>
          <a:xfrm>
            <a:off x="9334500" y="2222500"/>
            <a:ext cx="76200" cy="9525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D77F51-DBB1-9862-A32C-327B5FA4D4CD}"/>
              </a:ext>
            </a:extLst>
          </p:cNvPr>
          <p:cNvSpPr txBox="1"/>
          <p:nvPr/>
        </p:nvSpPr>
        <p:spPr>
          <a:xfrm>
            <a:off x="9537700" y="2387600"/>
            <a:ext cx="1879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Netlify</a:t>
            </a:r>
            <a:endParaRPr lang="ko-KR" altLang="en-US" sz="15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0D4FF3-9A74-189B-9D73-733DE0E2FA74}"/>
              </a:ext>
            </a:extLst>
          </p:cNvPr>
          <p:cNvSpPr txBox="1"/>
          <p:nvPr/>
        </p:nvSpPr>
        <p:spPr>
          <a:xfrm>
            <a:off x="9512300" y="27559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앱을 웹사이트로 자동 배포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AB14CE7-5D55-9B4C-45E6-93FCC215041D}"/>
              </a:ext>
            </a:extLst>
          </p:cNvPr>
          <p:cNvSpPr/>
          <p:nvPr/>
        </p:nvSpPr>
        <p:spPr>
          <a:xfrm>
            <a:off x="4635500" y="3429000"/>
            <a:ext cx="2857500" cy="1092200"/>
          </a:xfrm>
          <a:prstGeom prst="roundRect">
            <a:avLst/>
          </a:prstGeom>
          <a:solidFill>
            <a:srgbClr val="172033"/>
          </a:solidFill>
          <a:ln w="15875">
            <a:solidFill>
              <a:srgbClr val="172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6F1521-737D-B71E-6D69-938353538E6A}"/>
              </a:ext>
            </a:extLst>
          </p:cNvPr>
          <p:cNvSpPr txBox="1"/>
          <p:nvPr/>
        </p:nvSpPr>
        <p:spPr>
          <a:xfrm>
            <a:off x="4838700" y="3594100"/>
            <a:ext cx="24511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LatamFX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52D8BF-736F-921E-9416-958CD2C26AF7}"/>
              </a:ext>
            </a:extLst>
          </p:cNvPr>
          <p:cNvSpPr txBox="1"/>
          <p:nvPr/>
        </p:nvSpPr>
        <p:spPr>
          <a:xfrm>
            <a:off x="4813300" y="3962400"/>
            <a:ext cx="25019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DCE4EA"/>
                </a:solidFill>
                <a:latin typeface="Malgun Gothic" panose="020B0503020000020004" pitchFamily="50" charset="-127"/>
              </a:rPr>
              <a:t>환율을 비교하고 판단하기 쉽게 보여주는 업무 화면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1B1C224-94A6-C371-7C92-E26459C1E767}"/>
              </a:ext>
            </a:extLst>
          </p:cNvPr>
          <p:cNvSpPr/>
          <p:nvPr/>
        </p:nvSpPr>
        <p:spPr>
          <a:xfrm>
            <a:off x="4635500" y="5257800"/>
            <a:ext cx="2286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849CEDD-6CF7-396F-4C6D-9279550F2759}"/>
              </a:ext>
            </a:extLst>
          </p:cNvPr>
          <p:cNvSpPr/>
          <p:nvPr/>
        </p:nvSpPr>
        <p:spPr>
          <a:xfrm>
            <a:off x="4635500" y="5257800"/>
            <a:ext cx="76200" cy="8636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4BA460-1801-855E-5DBB-DFE89D70C54C}"/>
              </a:ext>
            </a:extLst>
          </p:cNvPr>
          <p:cNvSpPr txBox="1"/>
          <p:nvPr/>
        </p:nvSpPr>
        <p:spPr>
          <a:xfrm>
            <a:off x="4838700" y="5422900"/>
            <a:ext cx="1879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Supabase</a:t>
            </a:r>
            <a:endParaRPr lang="ko-KR" altLang="en-US" sz="15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6B5D60-9A71-B4A6-B182-194355800667}"/>
              </a:ext>
            </a:extLst>
          </p:cNvPr>
          <p:cNvSpPr txBox="1"/>
          <p:nvPr/>
        </p:nvSpPr>
        <p:spPr>
          <a:xfrm>
            <a:off x="4813300" y="5791200"/>
            <a:ext cx="193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환율</a:t>
            </a:r>
            <a:r>
              <a:rPr lang="en-US" altLang="ko-KR" sz="10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계획 데이터와 권한 관리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CFAC3AF-8AB6-44B0-6500-002AD8157D2A}"/>
              </a:ext>
            </a:extLst>
          </p:cNvPr>
          <p:cNvSpPr/>
          <p:nvPr/>
        </p:nvSpPr>
        <p:spPr>
          <a:xfrm>
            <a:off x="7493000" y="5257800"/>
            <a:ext cx="19685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DFB2087-8B71-93BB-77DE-A531CA833B05}"/>
              </a:ext>
            </a:extLst>
          </p:cNvPr>
          <p:cNvSpPr/>
          <p:nvPr/>
        </p:nvSpPr>
        <p:spPr>
          <a:xfrm>
            <a:off x="7493000" y="5257800"/>
            <a:ext cx="76200" cy="8636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7976A5-5DDF-2900-6797-4354B24419A4}"/>
              </a:ext>
            </a:extLst>
          </p:cNvPr>
          <p:cNvSpPr txBox="1"/>
          <p:nvPr/>
        </p:nvSpPr>
        <p:spPr>
          <a:xfrm>
            <a:off x="7696200" y="5422900"/>
            <a:ext cx="15621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이메일 리포트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2B1C7C-CA4F-338B-175B-354665F691A3}"/>
              </a:ext>
            </a:extLst>
          </p:cNvPr>
          <p:cNvSpPr txBox="1"/>
          <p:nvPr/>
        </p:nvSpPr>
        <p:spPr>
          <a:xfrm>
            <a:off x="7670800" y="5791200"/>
            <a:ext cx="16129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같은 환율 정보를 자동 전달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F44327A-C12E-0456-4BDC-769B6A4ACEBE}"/>
              </a:ext>
            </a:extLst>
          </p:cNvPr>
          <p:cNvSpPr/>
          <p:nvPr/>
        </p:nvSpPr>
        <p:spPr>
          <a:xfrm>
            <a:off x="9906000" y="5257800"/>
            <a:ext cx="1905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2EF9F78-B3B7-7F7F-D335-9F272F245EFA}"/>
              </a:ext>
            </a:extLst>
          </p:cNvPr>
          <p:cNvSpPr/>
          <p:nvPr/>
        </p:nvSpPr>
        <p:spPr>
          <a:xfrm>
            <a:off x="9906000" y="5257800"/>
            <a:ext cx="76200" cy="8636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17A81F-39D9-7E6A-3444-9D957AE0FE7C}"/>
              </a:ext>
            </a:extLst>
          </p:cNvPr>
          <p:cNvSpPr txBox="1"/>
          <p:nvPr/>
        </p:nvSpPr>
        <p:spPr>
          <a:xfrm>
            <a:off x="10109200" y="5422900"/>
            <a:ext cx="1498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72033"/>
                </a:solidFill>
                <a:latin typeface="Malgun Gothic" panose="020B0503020000020004" pitchFamily="50" charset="-127"/>
              </a:rPr>
              <a:t>현업 사용자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A6647B-6B4B-7067-4C6C-30CDEA228022}"/>
              </a:ext>
            </a:extLst>
          </p:cNvPr>
          <p:cNvSpPr txBox="1"/>
          <p:nvPr/>
        </p:nvSpPr>
        <p:spPr>
          <a:xfrm>
            <a:off x="10083800" y="5791200"/>
            <a:ext cx="154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웹</a:t>
            </a:r>
            <a:r>
              <a:rPr lang="en-US" altLang="ko-KR" sz="10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4D586A"/>
                </a:solidFill>
                <a:latin typeface="Malgun Gothic" panose="020B0503020000020004" pitchFamily="50" charset="-127"/>
              </a:rPr>
              <a:t>메일 확인 후 판단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488B84-BDEC-3656-F31D-FF82CD5ABB83}"/>
              </a:ext>
            </a:extLst>
          </p:cNvPr>
          <p:cNvSpPr txBox="1"/>
          <p:nvPr/>
        </p:nvSpPr>
        <p:spPr>
          <a:xfrm>
            <a:off x="711200" y="6413500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LatamFX AX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사례 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데이터 수집 → 계산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저장 → 배포 → 확인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전달</a:t>
            </a:r>
          </a:p>
        </p:txBody>
      </p:sp>
    </p:spTree>
    <p:extLst>
      <p:ext uri="{BB962C8B-B14F-4D97-AF65-F5344CB8AC3E}">
        <p14:creationId xmlns:p14="http://schemas.microsoft.com/office/powerpoint/2010/main" val="231996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D5BC57-17AD-5C6A-E90F-D527996FBD8C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05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593A1-8CDB-0250-52A2-A65C49B6BFD1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B9BAF-A2F3-49D2-7A9D-6081DE33C9F9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만들면서 발견한 </a:t>
            </a:r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의 네 가지 조건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34E27-E1C2-DE89-1887-1AF2213EA9F6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시제품이 실제 업무가 되려면 네 요소가 함께 맞아야 한다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674BB70-C633-ABEF-1F56-72C2683D7B9C}"/>
              </a:ext>
            </a:extLst>
          </p:cNvPr>
          <p:cNvSpPr/>
          <p:nvPr/>
        </p:nvSpPr>
        <p:spPr>
          <a:xfrm>
            <a:off x="762000" y="2159000"/>
            <a:ext cx="2540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939131-9CB8-51DB-5B82-AEE87D6B2BC7}"/>
              </a:ext>
            </a:extLst>
          </p:cNvPr>
          <p:cNvSpPr/>
          <p:nvPr/>
        </p:nvSpPr>
        <p:spPr>
          <a:xfrm>
            <a:off x="762000" y="2159000"/>
            <a:ext cx="76200" cy="27940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C96C4-7A6F-7D52-CB88-28AF40677EAF}"/>
              </a:ext>
            </a:extLst>
          </p:cNvPr>
          <p:cNvSpPr txBox="1"/>
          <p:nvPr/>
        </p:nvSpPr>
        <p:spPr>
          <a:xfrm>
            <a:off x="1016000" y="23495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문제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3F620-E6EE-5B86-0DE4-D5DF1F815830}"/>
              </a:ext>
            </a:extLst>
          </p:cNvPr>
          <p:cNvSpPr txBox="1"/>
          <p:nvPr/>
        </p:nvSpPr>
        <p:spPr>
          <a:xfrm>
            <a:off x="1016000" y="2781300"/>
            <a:ext cx="20828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화면 하나가 아니라 입력부터 판단과 공유까지 전체 업무 흐름을 본다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5E86C0-3034-9A7F-8922-167A2E55C015}"/>
              </a:ext>
            </a:extLst>
          </p:cNvPr>
          <p:cNvSpPr/>
          <p:nvPr/>
        </p:nvSpPr>
        <p:spPr>
          <a:xfrm>
            <a:off x="3467100" y="2159000"/>
            <a:ext cx="2540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9AB1ED-B5E0-BFC0-E6EF-2E9799F928F7}"/>
              </a:ext>
            </a:extLst>
          </p:cNvPr>
          <p:cNvSpPr/>
          <p:nvPr/>
        </p:nvSpPr>
        <p:spPr>
          <a:xfrm>
            <a:off x="3467100" y="2159000"/>
            <a:ext cx="76200" cy="2794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722FA-3944-838B-4CC5-F46A9DE5A53A}"/>
              </a:ext>
            </a:extLst>
          </p:cNvPr>
          <p:cNvSpPr txBox="1"/>
          <p:nvPr/>
        </p:nvSpPr>
        <p:spPr>
          <a:xfrm>
            <a:off x="3721100" y="23495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1EEE3-9E2B-3EE6-567B-C58AAAA84E96}"/>
              </a:ext>
            </a:extLst>
          </p:cNvPr>
          <p:cNvSpPr txBox="1"/>
          <p:nvPr/>
        </p:nvSpPr>
        <p:spPr>
          <a:xfrm>
            <a:off x="3721100" y="2781300"/>
            <a:ext cx="20828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출처와 정확성뿐 아니라 누락과 갱신 실패를 어떻게 발견할지 정한다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A0E562F-DF32-9D85-EBD6-4642480649F0}"/>
              </a:ext>
            </a:extLst>
          </p:cNvPr>
          <p:cNvSpPr/>
          <p:nvPr/>
        </p:nvSpPr>
        <p:spPr>
          <a:xfrm>
            <a:off x="6172200" y="2159000"/>
            <a:ext cx="2540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86BA70-F089-7352-A61D-0A2C74542316}"/>
              </a:ext>
            </a:extLst>
          </p:cNvPr>
          <p:cNvSpPr/>
          <p:nvPr/>
        </p:nvSpPr>
        <p:spPr>
          <a:xfrm>
            <a:off x="6172200" y="2159000"/>
            <a:ext cx="76200" cy="27940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9FF3D-A249-0EA1-EC16-3A113AEAFB83}"/>
              </a:ext>
            </a:extLst>
          </p:cNvPr>
          <p:cNvSpPr txBox="1"/>
          <p:nvPr/>
        </p:nvSpPr>
        <p:spPr>
          <a:xfrm>
            <a:off x="6426200" y="23495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판단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FC8320-9DF3-EC33-CB10-7333B8780C45}"/>
              </a:ext>
            </a:extLst>
          </p:cNvPr>
          <p:cNvSpPr txBox="1"/>
          <p:nvPr/>
        </p:nvSpPr>
        <p:spPr>
          <a:xfrm>
            <a:off x="6426200" y="2781300"/>
            <a:ext cx="20828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모든 숫자를 보여주기보다 무엇을 먼저 보고 어떻게 비교할지 설계한다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DCE344-6587-6850-7080-A57361F2FBF2}"/>
              </a:ext>
            </a:extLst>
          </p:cNvPr>
          <p:cNvSpPr/>
          <p:nvPr/>
        </p:nvSpPr>
        <p:spPr>
          <a:xfrm>
            <a:off x="8877300" y="2159000"/>
            <a:ext cx="2540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A8C89F-FB64-055B-2582-1C03AF1C3554}"/>
              </a:ext>
            </a:extLst>
          </p:cNvPr>
          <p:cNvSpPr/>
          <p:nvPr/>
        </p:nvSpPr>
        <p:spPr>
          <a:xfrm>
            <a:off x="8877300" y="2159000"/>
            <a:ext cx="76200" cy="2794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7C96C4-7275-A3AA-C1D5-CEAADEE59E0C}"/>
              </a:ext>
            </a:extLst>
          </p:cNvPr>
          <p:cNvSpPr txBox="1"/>
          <p:nvPr/>
        </p:nvSpPr>
        <p:spPr>
          <a:xfrm>
            <a:off x="9131300" y="2349500"/>
            <a:ext cx="2082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운영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49BE9-3E9A-62AE-79CF-E5EE097A3317}"/>
              </a:ext>
            </a:extLst>
          </p:cNvPr>
          <p:cNvSpPr txBox="1"/>
          <p:nvPr/>
        </p:nvSpPr>
        <p:spPr>
          <a:xfrm>
            <a:off x="9131300" y="2781300"/>
            <a:ext cx="20828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담당자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권한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배포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장애 대응과 유지보수 책임을 정한다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5A0F40-9EF3-6F24-B2EA-E6E8118260F7}"/>
              </a:ext>
            </a:extLst>
          </p:cNvPr>
          <p:cNvSpPr txBox="1"/>
          <p:nvPr/>
        </p:nvSpPr>
        <p:spPr>
          <a:xfrm>
            <a:off x="1955800" y="5486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문제 </a:t>
            </a:r>
            <a:r>
              <a:rPr lang="en-US" altLang="ko-KR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× </a:t>
            </a:r>
            <a:r>
              <a:rPr lang="ko-KR" altLang="en-US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데이터 </a:t>
            </a:r>
            <a:r>
              <a:rPr lang="en-US" altLang="ko-KR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× </a:t>
            </a:r>
            <a:r>
              <a:rPr lang="ko-KR" altLang="en-US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판단 </a:t>
            </a:r>
            <a:r>
              <a:rPr lang="en-US" altLang="ko-KR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× </a:t>
            </a:r>
            <a:r>
              <a:rPr lang="ko-KR" altLang="en-US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운영 </a:t>
            </a:r>
            <a:r>
              <a:rPr lang="en-US" altLang="ko-KR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= </a:t>
            </a:r>
            <a:r>
              <a:rPr lang="ko-KR" altLang="en-US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실제로 쓰이는 </a:t>
            </a:r>
            <a:r>
              <a:rPr lang="en-US" altLang="ko-KR" sz="24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endParaRPr lang="ko-KR" altLang="en-US" sz="24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D64315-224A-F74B-2B85-DB7C2B9DA30F}"/>
              </a:ext>
            </a:extLst>
          </p:cNvPr>
          <p:cNvSpPr txBox="1"/>
          <p:nvPr/>
        </p:nvSpPr>
        <p:spPr>
          <a:xfrm>
            <a:off x="711200" y="6413500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LatamFX AX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사례 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프로토타입에서 업무로</a:t>
            </a:r>
          </a:p>
        </p:txBody>
      </p:sp>
    </p:spTree>
    <p:extLst>
      <p:ext uri="{BB962C8B-B14F-4D97-AF65-F5344CB8AC3E}">
        <p14:creationId xmlns:p14="http://schemas.microsoft.com/office/powerpoint/2010/main" val="276007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71C25-FD9D-4C04-A347-50C8ECCBED8E}"/>
              </a:ext>
            </a:extLst>
          </p:cNvPr>
          <p:cNvSpPr txBox="1"/>
          <p:nvPr/>
        </p:nvSpPr>
        <p:spPr>
          <a:xfrm>
            <a:off x="685800" y="381000"/>
            <a:ext cx="44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4736B"/>
                </a:solidFill>
                <a:latin typeface="Malgun Gothic" panose="020B0503020000020004" pitchFamily="50" charset="-127"/>
              </a:rPr>
              <a:t>06</a:t>
            </a:r>
            <a:endParaRPr lang="ko-KR" altLang="en-US" sz="1200" b="1">
              <a:solidFill>
                <a:srgbClr val="2473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77DBD-F19E-022D-86B5-2C8BD51331E7}"/>
              </a:ext>
            </a:extLst>
          </p:cNvPr>
          <p:cNvSpPr txBox="1"/>
          <p:nvPr/>
        </p:nvSpPr>
        <p:spPr>
          <a:xfrm>
            <a:off x="1168400" y="381000"/>
            <a:ext cx="228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00" b="1">
                <a:solidFill>
                  <a:srgbClr val="697386"/>
                </a:solidFill>
                <a:latin typeface="Malgun Gothic" panose="020B0503020000020004" pitchFamily="50" charset="-127"/>
              </a:rPr>
              <a:t>AX CASE STUDY</a:t>
            </a:r>
            <a:endParaRPr lang="ko-KR" altLang="en-US" sz="1000" b="1">
              <a:solidFill>
                <a:srgbClr val="69738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AC1B9-3B51-C62A-9E94-15CA29D6A5B5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회사에서 </a:t>
            </a:r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는 이렇게 진행되어야 한다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49757-1324-42CB-DFFB-1DFF067F8B7D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큰 전략을 한 번에 완성하기보다 작은 검증을 운영 가능한 변화로 키운다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F580853-15C6-7411-29E9-0ACC016A04E4}"/>
              </a:ext>
            </a:extLst>
          </p:cNvPr>
          <p:cNvSpPr/>
          <p:nvPr/>
        </p:nvSpPr>
        <p:spPr>
          <a:xfrm>
            <a:off x="1270000" y="2247900"/>
            <a:ext cx="482600" cy="482600"/>
          </a:xfrm>
          <a:prstGeom prst="ellipse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4A85A8-2030-47DE-6B3F-955D561A633A}"/>
              </a:ext>
            </a:extLst>
          </p:cNvPr>
          <p:cNvSpPr/>
          <p:nvPr/>
        </p:nvSpPr>
        <p:spPr>
          <a:xfrm>
            <a:off x="546100" y="2857500"/>
            <a:ext cx="193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971B59-5B17-F334-4544-3A7385ED2FF1}"/>
              </a:ext>
            </a:extLst>
          </p:cNvPr>
          <p:cNvSpPr/>
          <p:nvPr/>
        </p:nvSpPr>
        <p:spPr>
          <a:xfrm>
            <a:off x="546100" y="2857500"/>
            <a:ext cx="76200" cy="19050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D05B9-1D48-FBB5-65B9-C5FEAD8FCA06}"/>
              </a:ext>
            </a:extLst>
          </p:cNvPr>
          <p:cNvSpPr txBox="1"/>
          <p:nvPr/>
        </p:nvSpPr>
        <p:spPr>
          <a:xfrm>
            <a:off x="800100" y="3048000"/>
            <a:ext cx="1473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문제 정의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97FCB-9A0D-3A10-3321-31CAFB2F94B4}"/>
              </a:ext>
            </a:extLst>
          </p:cNvPr>
          <p:cNvSpPr txBox="1"/>
          <p:nvPr/>
        </p:nvSpPr>
        <p:spPr>
          <a:xfrm>
            <a:off x="800100" y="3479800"/>
            <a:ext cx="147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작고 구체적인</a:t>
            </a:r>
          </a:p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현업 문제 선택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7DD4D8-2369-FEF0-3DEB-80E5908184C5}"/>
              </a:ext>
            </a:extLst>
          </p:cNvPr>
          <p:cNvCxnSpPr/>
          <p:nvPr/>
        </p:nvCxnSpPr>
        <p:spPr>
          <a:xfrm>
            <a:off x="2501900" y="3784600"/>
            <a:ext cx="4191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AD9ED41B-9CE3-5824-0FD0-E2ED9D67F2EC}"/>
              </a:ext>
            </a:extLst>
          </p:cNvPr>
          <p:cNvSpPr/>
          <p:nvPr/>
        </p:nvSpPr>
        <p:spPr>
          <a:xfrm>
            <a:off x="3606800" y="2247900"/>
            <a:ext cx="482600" cy="482600"/>
          </a:xfrm>
          <a:prstGeom prst="ellipse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1FF3909-5244-4CE4-7362-C3E3B7B3DD7B}"/>
              </a:ext>
            </a:extLst>
          </p:cNvPr>
          <p:cNvSpPr/>
          <p:nvPr/>
        </p:nvSpPr>
        <p:spPr>
          <a:xfrm>
            <a:off x="2882900" y="2857500"/>
            <a:ext cx="193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4BF7E8-9E03-0216-508A-F40A93E1CC85}"/>
              </a:ext>
            </a:extLst>
          </p:cNvPr>
          <p:cNvSpPr/>
          <p:nvPr/>
        </p:nvSpPr>
        <p:spPr>
          <a:xfrm>
            <a:off x="2882900" y="2857500"/>
            <a:ext cx="76200" cy="1905000"/>
          </a:xfrm>
          <a:prstGeom prst="rect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8F162-DE26-B1CD-535E-4C4D12EE3594}"/>
              </a:ext>
            </a:extLst>
          </p:cNvPr>
          <p:cNvSpPr txBox="1"/>
          <p:nvPr/>
        </p:nvSpPr>
        <p:spPr>
          <a:xfrm>
            <a:off x="3136900" y="3048000"/>
            <a:ext cx="1473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작은 실험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73AA3-E5B8-3FF5-C271-0836CFB79744}"/>
              </a:ext>
            </a:extLst>
          </p:cNvPr>
          <p:cNvSpPr txBox="1"/>
          <p:nvPr/>
        </p:nvSpPr>
        <p:spPr>
          <a:xfrm>
            <a:off x="3136900" y="3479800"/>
            <a:ext cx="147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최소 기능으로</a:t>
            </a:r>
          </a:p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빠르게 시제품 제작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FBF4292-5D82-61DB-B9F9-0746E0187C0A}"/>
              </a:ext>
            </a:extLst>
          </p:cNvPr>
          <p:cNvCxnSpPr/>
          <p:nvPr/>
        </p:nvCxnSpPr>
        <p:spPr>
          <a:xfrm>
            <a:off x="4838700" y="3784600"/>
            <a:ext cx="4191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FBD1484-8CE5-1661-27C2-DB6DB497718F}"/>
              </a:ext>
            </a:extLst>
          </p:cNvPr>
          <p:cNvSpPr/>
          <p:nvPr/>
        </p:nvSpPr>
        <p:spPr>
          <a:xfrm>
            <a:off x="5943600" y="2247900"/>
            <a:ext cx="482600" cy="482600"/>
          </a:xfrm>
          <a:prstGeom prst="ellipse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81296D5-A8E6-0444-D37D-01FA6FFB4E6D}"/>
              </a:ext>
            </a:extLst>
          </p:cNvPr>
          <p:cNvSpPr/>
          <p:nvPr/>
        </p:nvSpPr>
        <p:spPr>
          <a:xfrm>
            <a:off x="5219700" y="2857500"/>
            <a:ext cx="193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BBDD13-B66C-9EC6-8EB6-892F754D97CE}"/>
              </a:ext>
            </a:extLst>
          </p:cNvPr>
          <p:cNvSpPr/>
          <p:nvPr/>
        </p:nvSpPr>
        <p:spPr>
          <a:xfrm>
            <a:off x="5219700" y="2857500"/>
            <a:ext cx="76200" cy="1905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0F977-14DA-3B24-014C-B05E39DDD8D5}"/>
              </a:ext>
            </a:extLst>
          </p:cNvPr>
          <p:cNvSpPr txBox="1"/>
          <p:nvPr/>
        </p:nvSpPr>
        <p:spPr>
          <a:xfrm>
            <a:off x="5473700" y="3048000"/>
            <a:ext cx="1473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현업 검증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C51DD2-961D-EA93-CCF2-F1CF2E626A3D}"/>
              </a:ext>
            </a:extLst>
          </p:cNvPr>
          <p:cNvSpPr txBox="1"/>
          <p:nvPr/>
        </p:nvSpPr>
        <p:spPr>
          <a:xfrm>
            <a:off x="5473700" y="3479800"/>
            <a:ext cx="147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실제 사용자와</a:t>
            </a:r>
          </a:p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예외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오류 발견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33AD40E-92E8-5859-6A4C-4196695B258E}"/>
              </a:ext>
            </a:extLst>
          </p:cNvPr>
          <p:cNvCxnSpPr/>
          <p:nvPr/>
        </p:nvCxnSpPr>
        <p:spPr>
          <a:xfrm>
            <a:off x="7175500" y="3784600"/>
            <a:ext cx="4191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618F6AF7-747F-49CC-C123-B4A03BA9F63F}"/>
              </a:ext>
            </a:extLst>
          </p:cNvPr>
          <p:cNvSpPr/>
          <p:nvPr/>
        </p:nvSpPr>
        <p:spPr>
          <a:xfrm>
            <a:off x="8280400" y="2247900"/>
            <a:ext cx="482600" cy="482600"/>
          </a:xfrm>
          <a:prstGeom prst="ellipse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8B2E6A7-F18F-FCA3-04A6-751332D29C75}"/>
              </a:ext>
            </a:extLst>
          </p:cNvPr>
          <p:cNvSpPr/>
          <p:nvPr/>
        </p:nvSpPr>
        <p:spPr>
          <a:xfrm>
            <a:off x="7556500" y="2857500"/>
            <a:ext cx="193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D2CC6E-DFD8-E19F-AD34-0A32A68BBA15}"/>
              </a:ext>
            </a:extLst>
          </p:cNvPr>
          <p:cNvSpPr/>
          <p:nvPr/>
        </p:nvSpPr>
        <p:spPr>
          <a:xfrm>
            <a:off x="7556500" y="2857500"/>
            <a:ext cx="76200" cy="19050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E4E1C0-F415-019E-0CE1-14A6D5C13540}"/>
              </a:ext>
            </a:extLst>
          </p:cNvPr>
          <p:cNvSpPr txBox="1"/>
          <p:nvPr/>
        </p:nvSpPr>
        <p:spPr>
          <a:xfrm>
            <a:off x="7810500" y="3048000"/>
            <a:ext cx="1473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효과 측정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04098D-94D0-7D86-81B3-0D9355BC803A}"/>
              </a:ext>
            </a:extLst>
          </p:cNvPr>
          <p:cNvSpPr txBox="1"/>
          <p:nvPr/>
        </p:nvSpPr>
        <p:spPr>
          <a:xfrm>
            <a:off x="7810500" y="3479800"/>
            <a:ext cx="147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시간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오류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판단</a:t>
            </a:r>
          </a:p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속도로 성과 확인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FD4813-1E92-DA8A-B1F9-F5B869F8C09C}"/>
              </a:ext>
            </a:extLst>
          </p:cNvPr>
          <p:cNvCxnSpPr/>
          <p:nvPr/>
        </p:nvCxnSpPr>
        <p:spPr>
          <a:xfrm>
            <a:off x="9512300" y="3784600"/>
            <a:ext cx="4191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7E87B2E3-A57A-1A96-77CF-9DB05B8E2323}"/>
              </a:ext>
            </a:extLst>
          </p:cNvPr>
          <p:cNvSpPr/>
          <p:nvPr/>
        </p:nvSpPr>
        <p:spPr>
          <a:xfrm>
            <a:off x="10617200" y="2247900"/>
            <a:ext cx="482600" cy="482600"/>
          </a:xfrm>
          <a:prstGeom prst="ellipse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5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8443C25-85EF-56F2-BC8E-4F95949C26E7}"/>
              </a:ext>
            </a:extLst>
          </p:cNvPr>
          <p:cNvSpPr/>
          <p:nvPr/>
        </p:nvSpPr>
        <p:spPr>
          <a:xfrm>
            <a:off x="9893300" y="2857500"/>
            <a:ext cx="193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0469C6-F90D-3AB4-1925-D3709AEFD748}"/>
              </a:ext>
            </a:extLst>
          </p:cNvPr>
          <p:cNvSpPr/>
          <p:nvPr/>
        </p:nvSpPr>
        <p:spPr>
          <a:xfrm>
            <a:off x="9893300" y="2857500"/>
            <a:ext cx="76200" cy="1905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AB0C0-397F-6651-0D7A-520CB46ECE60}"/>
              </a:ext>
            </a:extLst>
          </p:cNvPr>
          <p:cNvSpPr txBox="1"/>
          <p:nvPr/>
        </p:nvSpPr>
        <p:spPr>
          <a:xfrm>
            <a:off x="10147300" y="3048000"/>
            <a:ext cx="1473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운영</a:t>
            </a:r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확산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67DF8-273A-C47D-2394-FB26444DE75C}"/>
              </a:ext>
            </a:extLst>
          </p:cNvPr>
          <p:cNvSpPr txBox="1"/>
          <p:nvPr/>
        </p:nvSpPr>
        <p:spPr>
          <a:xfrm>
            <a:off x="10147300" y="3479800"/>
            <a:ext cx="14732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보안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권한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책임을</a:t>
            </a:r>
          </a:p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붙여 검증 과제 확산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3FF760-20D0-4C4C-BC5A-BCA3234EADA3}"/>
              </a:ext>
            </a:extLst>
          </p:cNvPr>
          <p:cNvSpPr txBox="1"/>
          <p:nvPr/>
        </p:nvSpPr>
        <p:spPr>
          <a:xfrm>
            <a:off x="1587500" y="5397500"/>
            <a:ext cx="9017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를 사용했다”가 아니라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업무가 실제로 얼마나 좋아졌는가를 측정합니다</a:t>
            </a:r>
            <a:r>
              <a:rPr lang="en-US" altLang="ko-KR" sz="1900" b="1">
                <a:solidFill>
                  <a:srgbClr val="172033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 b="1">
              <a:solidFill>
                <a:srgbClr val="17203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D590D4-1010-C0A2-2F8D-592DF3675958}"/>
              </a:ext>
            </a:extLst>
          </p:cNvPr>
          <p:cNvSpPr txBox="1"/>
          <p:nvPr/>
        </p:nvSpPr>
        <p:spPr>
          <a:xfrm>
            <a:off x="711200" y="6413500"/>
            <a:ext cx="825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LatamFX AX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사례 </a:t>
            </a:r>
            <a:r>
              <a:rPr lang="en-US" altLang="ko-KR" sz="900">
                <a:solidFill>
                  <a:srgbClr val="8A919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900">
                <a:solidFill>
                  <a:srgbClr val="8A919E"/>
                </a:solidFill>
                <a:latin typeface="Malgun Gothic" panose="020B0503020000020004" pitchFamily="50" charset="-127"/>
              </a:rPr>
              <a:t>조직의 실행 방식</a:t>
            </a:r>
          </a:p>
        </p:txBody>
      </p:sp>
    </p:spTree>
    <p:extLst>
      <p:ext uri="{BB962C8B-B14F-4D97-AF65-F5344CB8AC3E}">
        <p14:creationId xmlns:p14="http://schemas.microsoft.com/office/powerpoint/2010/main" val="380986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6327BE5-1B58-5674-F054-FFC7723CBD88}"/>
              </a:ext>
            </a:extLst>
          </p:cNvPr>
          <p:cNvSpPr/>
          <p:nvPr/>
        </p:nvSpPr>
        <p:spPr>
          <a:xfrm>
            <a:off x="736600" y="609600"/>
            <a:ext cx="3873500" cy="355600"/>
          </a:xfrm>
          <a:prstGeom prst="round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FROM PERSONAL EXPERIMENT TO ORGANIZATIONAL AX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F02E4-1490-A542-6DEA-A46339C8D7B3}"/>
              </a:ext>
            </a:extLst>
          </p:cNvPr>
          <p:cNvSpPr txBox="1"/>
          <p:nvPr/>
        </p:nvSpPr>
        <p:spPr>
          <a:xfrm>
            <a:off x="736600" y="1511300"/>
            <a:ext cx="965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FFFFFF"/>
                </a:solidFill>
                <a:latin typeface="Malgun Gothic" panose="020B0503020000020004" pitchFamily="50" charset="-127"/>
              </a:rPr>
              <a:t>모든 직원이 개발자가 될 필요는 없습니다</a:t>
            </a:r>
            <a:r>
              <a:rPr lang="en-US" altLang="ko-KR" sz="27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39111-D5C5-4C94-1AD0-D2B17D228C2F}"/>
              </a:ext>
            </a:extLst>
          </p:cNvPr>
          <p:cNvSpPr txBox="1"/>
          <p:nvPr/>
        </p:nvSpPr>
        <p:spPr>
          <a:xfrm>
            <a:off x="762000" y="2349500"/>
            <a:ext cx="9652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DCE4EA"/>
                </a:solidFill>
                <a:latin typeface="Malgun Gothic" panose="020B0503020000020004" pitchFamily="50" charset="-127"/>
              </a:rPr>
              <a:t>하지만 자신의 업무를 구조적으로 설명하고</a:t>
            </a:r>
            <a:r>
              <a:rPr lang="en-US" altLang="ko-KR" sz="2100">
                <a:solidFill>
                  <a:srgbClr val="DCE4EA"/>
                </a:solidFill>
                <a:latin typeface="Malgun Gothic" panose="020B0503020000020004" pitchFamily="50" charset="-127"/>
              </a:rPr>
              <a:t>,</a:t>
            </a:r>
          </a:p>
          <a:p>
            <a:r>
              <a:rPr lang="ko-KR" altLang="en-US" sz="2100">
                <a:solidFill>
                  <a:srgbClr val="DCE4EA"/>
                </a:solidFill>
                <a:latin typeface="Malgun Gothic" panose="020B0503020000020004" pitchFamily="50" charset="-127"/>
              </a:rPr>
              <a:t>작은 실험으로 개선 가능성을 확인하는 능력은 필요합니다</a:t>
            </a:r>
            <a:r>
              <a:rPr lang="en-US" altLang="ko-KR" sz="2100">
                <a:solidFill>
                  <a:srgbClr val="DCE4EA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>
              <a:solidFill>
                <a:srgbClr val="DCE4E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6032995-F836-5296-9D3A-AA9FFBA2DF42}"/>
              </a:ext>
            </a:extLst>
          </p:cNvPr>
          <p:cNvSpPr/>
          <p:nvPr/>
        </p:nvSpPr>
        <p:spPr>
          <a:xfrm>
            <a:off x="762000" y="38100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CC22C2-BEE0-7C11-78B2-E8A1CDF92520}"/>
              </a:ext>
            </a:extLst>
          </p:cNvPr>
          <p:cNvSpPr/>
          <p:nvPr/>
        </p:nvSpPr>
        <p:spPr>
          <a:xfrm>
            <a:off x="762000" y="3810000"/>
            <a:ext cx="76200" cy="1587500"/>
          </a:xfrm>
          <a:prstGeom prst="rect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0F255-461F-1D75-2121-CB15CACD38A8}"/>
              </a:ext>
            </a:extLst>
          </p:cNvPr>
          <p:cNvSpPr txBox="1"/>
          <p:nvPr/>
        </p:nvSpPr>
        <p:spPr>
          <a:xfrm>
            <a:off x="1016000" y="40005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현업의 역할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C412E-5DC3-F1AF-7E7E-0410C98687F5}"/>
              </a:ext>
            </a:extLst>
          </p:cNvPr>
          <p:cNvSpPr txBox="1"/>
          <p:nvPr/>
        </p:nvSpPr>
        <p:spPr>
          <a:xfrm>
            <a:off x="1016000" y="4432300"/>
            <a:ext cx="27178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반복과 오류가 생기는 지점을 설명하고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실제 업무에서 시제품을 검증한다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48A9020-FD8E-1009-DA2D-B7ADE89805E5}"/>
              </a:ext>
            </a:extLst>
          </p:cNvPr>
          <p:cNvSpPr/>
          <p:nvPr/>
        </p:nvSpPr>
        <p:spPr>
          <a:xfrm>
            <a:off x="4508500" y="38100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1D404C-7EFA-5229-F9CC-C2AB7EE9372B}"/>
              </a:ext>
            </a:extLst>
          </p:cNvPr>
          <p:cNvSpPr/>
          <p:nvPr/>
        </p:nvSpPr>
        <p:spPr>
          <a:xfrm>
            <a:off x="4508500" y="3810000"/>
            <a:ext cx="76200" cy="15875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1732E-4978-8899-35DB-7F6A0E08421E}"/>
              </a:ext>
            </a:extLst>
          </p:cNvPr>
          <p:cNvSpPr txBox="1"/>
          <p:nvPr/>
        </p:nvSpPr>
        <p:spPr>
          <a:xfrm>
            <a:off x="4762500" y="40005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조직의 역할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CE97C-1F79-17E6-876D-BBE1D77286CF}"/>
              </a:ext>
            </a:extLst>
          </p:cNvPr>
          <p:cNvSpPr txBox="1"/>
          <p:nvPr/>
        </p:nvSpPr>
        <p:spPr>
          <a:xfrm>
            <a:off x="4762500" y="4432300"/>
            <a:ext cx="27178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데이터 접근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보안 기준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운영 책임을 제공하고 검증된 사례를 확산한다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7B91C9-16C4-9B8E-46D4-0F54D5A788C2}"/>
              </a:ext>
            </a:extLst>
          </p:cNvPr>
          <p:cNvSpPr/>
          <p:nvPr/>
        </p:nvSpPr>
        <p:spPr>
          <a:xfrm>
            <a:off x="8255000" y="38100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9DF8BE-3DDB-084F-5274-705337E3C666}"/>
              </a:ext>
            </a:extLst>
          </p:cNvPr>
          <p:cNvSpPr/>
          <p:nvPr/>
        </p:nvSpPr>
        <p:spPr>
          <a:xfrm>
            <a:off x="8255000" y="3810000"/>
            <a:ext cx="76200" cy="15875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F9206C-9A79-4DE7-707E-BBFF004F9946}"/>
              </a:ext>
            </a:extLst>
          </p:cNvPr>
          <p:cNvSpPr txBox="1"/>
          <p:nvPr/>
        </p:nvSpPr>
        <p:spPr>
          <a:xfrm>
            <a:off x="8509000" y="40005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의 시작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8BB48-B9AB-9CCF-CC75-C8F78F02EFC0}"/>
              </a:ext>
            </a:extLst>
          </p:cNvPr>
          <p:cNvSpPr txBox="1"/>
          <p:nvPr/>
        </p:nvSpPr>
        <p:spPr>
          <a:xfrm>
            <a:off x="8509000" y="4432300"/>
            <a:ext cx="27178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당연하게 반복하던 한 가지 업무를 다시 질문한다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D586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12D0C6-E362-279C-0354-5AA07737FE84}"/>
              </a:ext>
            </a:extLst>
          </p:cNvPr>
          <p:cNvSpPr txBox="1"/>
          <p:nvPr/>
        </p:nvSpPr>
        <p:spPr>
          <a:xfrm>
            <a:off x="889000" y="59436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AX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의 시작은 거대한 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전략이 아니라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오늘도 반복되는 한 가지 업무를 다시 묻는 것입니다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.”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163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4A7E4D1-AA75-ECBA-BC71-4891559088CB}"/>
              </a:ext>
            </a:extLst>
          </p:cNvPr>
          <p:cNvSpPr/>
          <p:nvPr/>
        </p:nvSpPr>
        <p:spPr>
          <a:xfrm>
            <a:off x="685800" y="381000"/>
            <a:ext cx="1333500" cy="355600"/>
          </a:xfrm>
          <a:prstGeom prst="roundRect">
            <a:avLst/>
          </a:prstGeom>
          <a:solidFill>
            <a:srgbClr val="697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Q&amp;A APPENDIX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CF037-2083-B9CA-4B20-5DB001831093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데이터와 기술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C8E12-587C-6866-A645-D27EAF301AE5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질문이 있을 때만 설명하는 운영 구조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05291D-3A08-C80D-F6AA-72A9F80824C5}"/>
              </a:ext>
            </a:extLst>
          </p:cNvPr>
          <p:cNvSpPr/>
          <p:nvPr/>
        </p:nvSpPr>
        <p:spPr>
          <a:xfrm>
            <a:off x="889000" y="2349500"/>
            <a:ext cx="2222500" cy="660400"/>
          </a:xfrm>
          <a:prstGeom prst="round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환율 </a:t>
            </a:r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API / 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보정 데이터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62C8BA5-FB89-A250-748A-5707E9452A71}"/>
              </a:ext>
            </a:extLst>
          </p:cNvPr>
          <p:cNvCxnSpPr/>
          <p:nvPr/>
        </p:nvCxnSpPr>
        <p:spPr>
          <a:xfrm>
            <a:off x="3175000" y="2679700"/>
            <a:ext cx="5080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F9E580-429F-2FC9-368C-126E1A2AE500}"/>
              </a:ext>
            </a:extLst>
          </p:cNvPr>
          <p:cNvSpPr/>
          <p:nvPr/>
        </p:nvSpPr>
        <p:spPr>
          <a:xfrm>
            <a:off x="3746500" y="2349500"/>
            <a:ext cx="1905000" cy="660400"/>
          </a:xfrm>
          <a:prstGeom prst="roundRect">
            <a:avLst/>
          </a:prstGeom>
          <a:solidFill>
            <a:srgbClr val="3D72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수집</a:t>
            </a:r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계산</a:t>
            </a:r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·DB 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적재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39603A9-425D-D5B7-1B5E-DE7F94BF37DC}"/>
              </a:ext>
            </a:extLst>
          </p:cNvPr>
          <p:cNvCxnSpPr/>
          <p:nvPr/>
        </p:nvCxnSpPr>
        <p:spPr>
          <a:xfrm>
            <a:off x="5715000" y="2679700"/>
            <a:ext cx="5080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E1A91A-ECAC-46BF-5D49-9F1C7CB7ACF3}"/>
              </a:ext>
            </a:extLst>
          </p:cNvPr>
          <p:cNvSpPr/>
          <p:nvPr/>
        </p:nvSpPr>
        <p:spPr>
          <a:xfrm>
            <a:off x="6286500" y="2349500"/>
            <a:ext cx="1905000" cy="660400"/>
          </a:xfrm>
          <a:prstGeom prst="round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Supabase 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저장</a:t>
            </a:r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조회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E51320-71A4-554A-21CC-7E7886A1D223}"/>
              </a:ext>
            </a:extLst>
          </p:cNvPr>
          <p:cNvCxnSpPr/>
          <p:nvPr/>
        </p:nvCxnSpPr>
        <p:spPr>
          <a:xfrm>
            <a:off x="8255000" y="2679700"/>
            <a:ext cx="508000" cy="0"/>
          </a:xfrm>
          <a:prstGeom prst="line">
            <a:avLst/>
          </a:prstGeom>
          <a:ln w="25400">
            <a:solidFill>
              <a:srgbClr val="A3A9B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4527FD-0B47-2293-9D4E-FFB555052F61}"/>
              </a:ext>
            </a:extLst>
          </p:cNvPr>
          <p:cNvSpPr/>
          <p:nvPr/>
        </p:nvSpPr>
        <p:spPr>
          <a:xfrm>
            <a:off x="8826500" y="2349500"/>
            <a:ext cx="1905000" cy="660400"/>
          </a:xfrm>
          <a:prstGeom prst="round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화면</a:t>
            </a:r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메일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57EDF8-62E5-6B5E-8060-95CA7C740C55}"/>
              </a:ext>
            </a:extLst>
          </p:cNvPr>
          <p:cNvSpPr/>
          <p:nvPr/>
        </p:nvSpPr>
        <p:spPr>
          <a:xfrm>
            <a:off x="1333500" y="3937000"/>
            <a:ext cx="2667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C17AB1-36DD-3C53-C7D1-A629EB1C212A}"/>
              </a:ext>
            </a:extLst>
          </p:cNvPr>
          <p:cNvSpPr/>
          <p:nvPr/>
        </p:nvSpPr>
        <p:spPr>
          <a:xfrm>
            <a:off x="1333500" y="3937000"/>
            <a:ext cx="76200" cy="13970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C6505-9BB4-6CD7-A8BB-03ABAD9C5E3A}"/>
              </a:ext>
            </a:extLst>
          </p:cNvPr>
          <p:cNvSpPr txBox="1"/>
          <p:nvPr/>
        </p:nvSpPr>
        <p:spPr>
          <a:xfrm>
            <a:off x="1587500" y="4127500"/>
            <a:ext cx="2209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화면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9C2BE-D063-945E-B243-6A73964D21F1}"/>
              </a:ext>
            </a:extLst>
          </p:cNvPr>
          <p:cNvSpPr txBox="1"/>
          <p:nvPr/>
        </p:nvSpPr>
        <p:spPr>
          <a:xfrm>
            <a:off x="1587500" y="4559300"/>
            <a:ext cx="2209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React + TypeScript</a:t>
            </a:r>
          </a:p>
          <a:p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Netlify 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배포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8059907-81EB-2D0B-AB06-7F1AF8BB01D4}"/>
              </a:ext>
            </a:extLst>
          </p:cNvPr>
          <p:cNvSpPr/>
          <p:nvPr/>
        </p:nvSpPr>
        <p:spPr>
          <a:xfrm>
            <a:off x="4762500" y="3937000"/>
            <a:ext cx="2667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B7CB75-77B0-7CB9-205C-3911D6E21D77}"/>
              </a:ext>
            </a:extLst>
          </p:cNvPr>
          <p:cNvSpPr/>
          <p:nvPr/>
        </p:nvSpPr>
        <p:spPr>
          <a:xfrm>
            <a:off x="4762500" y="3937000"/>
            <a:ext cx="76200" cy="1397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666D1-2894-5FFA-E5D3-2228637D67AE}"/>
              </a:ext>
            </a:extLst>
          </p:cNvPr>
          <p:cNvSpPr txBox="1"/>
          <p:nvPr/>
        </p:nvSpPr>
        <p:spPr>
          <a:xfrm>
            <a:off x="5016500" y="4127500"/>
            <a:ext cx="2209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환율</a:t>
            </a:r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계획 데이터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035B95-A4E9-7FA7-652B-1788B3BBBB41}"/>
              </a:ext>
            </a:extLst>
          </p:cNvPr>
          <p:cNvSpPr txBox="1"/>
          <p:nvPr/>
        </p:nvSpPr>
        <p:spPr>
          <a:xfrm>
            <a:off x="5016500" y="4559300"/>
            <a:ext cx="2209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Supabase Database + Auth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조회와 권한별 수정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075F2E4-7871-B1FD-663A-64C139229FD8}"/>
              </a:ext>
            </a:extLst>
          </p:cNvPr>
          <p:cNvSpPr/>
          <p:nvPr/>
        </p:nvSpPr>
        <p:spPr>
          <a:xfrm>
            <a:off x="8191500" y="3937000"/>
            <a:ext cx="2667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321B69-7FF8-B435-DBAF-5FCF214792D1}"/>
              </a:ext>
            </a:extLst>
          </p:cNvPr>
          <p:cNvSpPr/>
          <p:nvPr/>
        </p:nvSpPr>
        <p:spPr>
          <a:xfrm>
            <a:off x="8191500" y="3937000"/>
            <a:ext cx="76200" cy="1397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8687D-748D-F2CB-430C-1C2E92C94759}"/>
              </a:ext>
            </a:extLst>
          </p:cNvPr>
          <p:cNvSpPr txBox="1"/>
          <p:nvPr/>
        </p:nvSpPr>
        <p:spPr>
          <a:xfrm>
            <a:off x="8445500" y="4127500"/>
            <a:ext cx="2209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운영 자동화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59024E-FAC6-2FA6-C811-961A5A83E9F1}"/>
              </a:ext>
            </a:extLst>
          </p:cNvPr>
          <p:cNvSpPr txBox="1"/>
          <p:nvPr/>
        </p:nvSpPr>
        <p:spPr>
          <a:xfrm>
            <a:off x="8445500" y="4559300"/>
            <a:ext cx="2209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GitHub Actions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정기 수집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검증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643265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C73ED4C-2E86-8972-3AA2-A5EC43934D32}"/>
              </a:ext>
            </a:extLst>
          </p:cNvPr>
          <p:cNvSpPr/>
          <p:nvPr/>
        </p:nvSpPr>
        <p:spPr>
          <a:xfrm>
            <a:off x="685800" y="381000"/>
            <a:ext cx="1333500" cy="355600"/>
          </a:xfrm>
          <a:prstGeom prst="roundRect">
            <a:avLst/>
          </a:prstGeom>
          <a:solidFill>
            <a:srgbClr val="697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Q&amp;A APPENDIX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42494-6E1D-B5EE-65A2-41A8B93D088F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현재 구현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E5F96-E3E4-23E1-6685-0A7CC2655824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현재 기능과 운영 전 확인 사항을 구분한다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3872708-0B3D-8D5A-A3AF-B68E01632764}"/>
              </a:ext>
            </a:extLst>
          </p:cNvPr>
          <p:cNvSpPr/>
          <p:nvPr/>
        </p:nvSpPr>
        <p:spPr>
          <a:xfrm>
            <a:off x="635000" y="2032000"/>
            <a:ext cx="5588000" cy="3556000"/>
          </a:xfrm>
          <a:prstGeom prst="roundRect">
            <a:avLst/>
          </a:prstGeom>
          <a:solidFill>
            <a:srgbClr val="FFFFFF"/>
          </a:solidFill>
          <a:ln>
            <a:solidFill>
              <a:srgbClr val="D9D7CF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3B07B2-2893-D45A-CF6A-48FDA78C82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095500"/>
            <a:ext cx="5461000" cy="3429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197EA7A-E718-2418-0459-6169D0372D45}"/>
              </a:ext>
            </a:extLst>
          </p:cNvPr>
          <p:cNvSpPr/>
          <p:nvPr/>
        </p:nvSpPr>
        <p:spPr>
          <a:xfrm>
            <a:off x="6794500" y="2095500"/>
            <a:ext cx="4318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763B34-9480-939F-24D3-19B01E61575B}"/>
              </a:ext>
            </a:extLst>
          </p:cNvPr>
          <p:cNvSpPr/>
          <p:nvPr/>
        </p:nvSpPr>
        <p:spPr>
          <a:xfrm>
            <a:off x="6794500" y="2095500"/>
            <a:ext cx="76200" cy="23495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E8CC2-C0B6-3E80-0DF3-43B44050320B}"/>
              </a:ext>
            </a:extLst>
          </p:cNvPr>
          <p:cNvSpPr txBox="1"/>
          <p:nvPr/>
        </p:nvSpPr>
        <p:spPr>
          <a:xfrm>
            <a:off x="7048500" y="2286000"/>
            <a:ext cx="3860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현재 구현됨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573A8-656B-3A2E-BEB4-05C03F75B696}"/>
              </a:ext>
            </a:extLst>
          </p:cNvPr>
          <p:cNvSpPr txBox="1"/>
          <p:nvPr/>
        </p:nvSpPr>
        <p:spPr>
          <a:xfrm>
            <a:off x="7048500" y="2717800"/>
            <a:ext cx="38608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환율 수집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보정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주요 지표 계산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월별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일별 추이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계획 대비 비교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메일 본문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차트 생성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A09D80C-E1F2-17DA-B4FD-38CA2000524A}"/>
              </a:ext>
            </a:extLst>
          </p:cNvPr>
          <p:cNvSpPr/>
          <p:nvPr/>
        </p:nvSpPr>
        <p:spPr>
          <a:xfrm>
            <a:off x="6794500" y="4699000"/>
            <a:ext cx="4318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2DC3EC-5856-2C9F-FA28-AC6927B04993}"/>
              </a:ext>
            </a:extLst>
          </p:cNvPr>
          <p:cNvSpPr/>
          <p:nvPr/>
        </p:nvSpPr>
        <p:spPr>
          <a:xfrm>
            <a:off x="6794500" y="4699000"/>
            <a:ext cx="76200" cy="1460500"/>
          </a:xfrm>
          <a:prstGeom prst="rect">
            <a:avLst/>
          </a:prstGeom>
          <a:solidFill>
            <a:srgbClr val="A56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1B8DEE-E287-9AFD-CF6E-E895F7D0266D}"/>
              </a:ext>
            </a:extLst>
          </p:cNvPr>
          <p:cNvSpPr txBox="1"/>
          <p:nvPr/>
        </p:nvSpPr>
        <p:spPr>
          <a:xfrm>
            <a:off x="7048500" y="4889500"/>
            <a:ext cx="3860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운영 전 확인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D93A8-CCB4-0584-B25F-7965BC566BE4}"/>
              </a:ext>
            </a:extLst>
          </p:cNvPr>
          <p:cNvSpPr txBox="1"/>
          <p:nvPr/>
        </p:nvSpPr>
        <p:spPr>
          <a:xfrm>
            <a:off x="7048500" y="5321300"/>
            <a:ext cx="38608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수신자 체계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장애 알림</a:t>
            </a:r>
          </a:p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담당자와 유지보수 책임</a:t>
            </a:r>
          </a:p>
        </p:txBody>
      </p:sp>
    </p:spTree>
    <p:extLst>
      <p:ext uri="{BB962C8B-B14F-4D97-AF65-F5344CB8AC3E}">
        <p14:creationId xmlns:p14="http://schemas.microsoft.com/office/powerpoint/2010/main" val="80471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0317305-E611-2C4F-014E-31D2C67D16CF}"/>
              </a:ext>
            </a:extLst>
          </p:cNvPr>
          <p:cNvSpPr/>
          <p:nvPr/>
        </p:nvSpPr>
        <p:spPr>
          <a:xfrm>
            <a:off x="685800" y="381000"/>
            <a:ext cx="1333500" cy="355600"/>
          </a:xfrm>
          <a:prstGeom prst="roundRect">
            <a:avLst/>
          </a:prstGeom>
          <a:solidFill>
            <a:srgbClr val="697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Q&amp;A APPENDIX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6EE13-1826-64E2-A844-F109BBDB7F59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향후 </a:t>
            </a:r>
            <a:r>
              <a:rPr lang="en-US" altLang="ko-KR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분석 방향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CEA59-A1CC-E1F3-B599-26E615E808E6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현재 구현 기능이 아니라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검증 이후 확장할 수 있는 가능성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B5EB4B-623A-5935-9056-F13C9C3A8A1D}"/>
              </a:ext>
            </a:extLst>
          </p:cNvPr>
          <p:cNvSpPr/>
          <p:nvPr/>
        </p:nvSpPr>
        <p:spPr>
          <a:xfrm>
            <a:off x="825500" y="2222500"/>
            <a:ext cx="3175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BC62D9-26B1-B264-693C-8DCA008C4FBC}"/>
              </a:ext>
            </a:extLst>
          </p:cNvPr>
          <p:cNvSpPr/>
          <p:nvPr/>
        </p:nvSpPr>
        <p:spPr>
          <a:xfrm>
            <a:off x="825500" y="2222500"/>
            <a:ext cx="76200" cy="21590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AD9F4-7E45-8496-4850-445CEDE6BC86}"/>
              </a:ext>
            </a:extLst>
          </p:cNvPr>
          <p:cNvSpPr txBox="1"/>
          <p:nvPr/>
        </p:nvSpPr>
        <p:spPr>
          <a:xfrm>
            <a:off x="1079500" y="24130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이상 통화 요약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A7FF7-0B0F-4D63-8D7B-9BA42B725A44}"/>
              </a:ext>
            </a:extLst>
          </p:cNvPr>
          <p:cNvSpPr txBox="1"/>
          <p:nvPr/>
        </p:nvSpPr>
        <p:spPr>
          <a:xfrm>
            <a:off x="1079500" y="2844800"/>
            <a:ext cx="2717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MoM, 52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주 위치</a:t>
            </a:r>
            <a:r>
              <a:rPr lang="en-US" altLang="ko-KR" sz="14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계획 대비 차이가 큰 통화를 우선 제안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F0E362-3754-5DBD-82C0-C01334369F12}"/>
              </a:ext>
            </a:extLst>
          </p:cNvPr>
          <p:cNvSpPr/>
          <p:nvPr/>
        </p:nvSpPr>
        <p:spPr>
          <a:xfrm>
            <a:off x="4508500" y="2222500"/>
            <a:ext cx="3175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C077BE-0F82-FBE0-5A98-C81CE193E30E}"/>
              </a:ext>
            </a:extLst>
          </p:cNvPr>
          <p:cNvSpPr/>
          <p:nvPr/>
        </p:nvSpPr>
        <p:spPr>
          <a:xfrm>
            <a:off x="4508500" y="2222500"/>
            <a:ext cx="76200" cy="2159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4C4B2-ABF6-F06C-9FDA-C425E657998F}"/>
              </a:ext>
            </a:extLst>
          </p:cNvPr>
          <p:cNvSpPr txBox="1"/>
          <p:nvPr/>
        </p:nvSpPr>
        <p:spPr>
          <a:xfrm>
            <a:off x="4762500" y="24130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원인 후보 연결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61464-66D7-2099-AC85-F161D931EB61}"/>
              </a:ext>
            </a:extLst>
          </p:cNvPr>
          <p:cNvSpPr txBox="1"/>
          <p:nvPr/>
        </p:nvSpPr>
        <p:spPr>
          <a:xfrm>
            <a:off x="4762500" y="2844800"/>
            <a:ext cx="2717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환율 움직임과 외부 시장 정보를 연결해 검토할 맥락 제시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1E52E0C-52AD-A3A7-C4D8-CDE6063CB444}"/>
              </a:ext>
            </a:extLst>
          </p:cNvPr>
          <p:cNvSpPr/>
          <p:nvPr/>
        </p:nvSpPr>
        <p:spPr>
          <a:xfrm>
            <a:off x="8191500" y="2222500"/>
            <a:ext cx="3175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E7DE36-B0AD-2CD6-7F99-C04E95138531}"/>
              </a:ext>
            </a:extLst>
          </p:cNvPr>
          <p:cNvSpPr/>
          <p:nvPr/>
        </p:nvSpPr>
        <p:spPr>
          <a:xfrm>
            <a:off x="8191500" y="2222500"/>
            <a:ext cx="76200" cy="2159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B5FEB-3FDD-B371-7F9C-CECA277FD73B}"/>
              </a:ext>
            </a:extLst>
          </p:cNvPr>
          <p:cNvSpPr txBox="1"/>
          <p:nvPr/>
        </p:nvSpPr>
        <p:spPr>
          <a:xfrm>
            <a:off x="8445500" y="24130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대응 질문 제안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386A1-0067-B152-745C-34C795241130}"/>
              </a:ext>
            </a:extLst>
          </p:cNvPr>
          <p:cNvSpPr txBox="1"/>
          <p:nvPr/>
        </p:nvSpPr>
        <p:spPr>
          <a:xfrm>
            <a:off x="8445500" y="2844800"/>
            <a:ext cx="2717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D586A"/>
                </a:solidFill>
                <a:latin typeface="Malgun Gothic" panose="020B0503020000020004" pitchFamily="50" charset="-127"/>
              </a:rPr>
              <a:t>결론을 확정하기보다 회의에서 확인해야 할 질문과 근거 제안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6C8FFB-16FD-44A9-FD85-BD10F3FAF98A}"/>
              </a:ext>
            </a:extLst>
          </p:cNvPr>
          <p:cNvSpPr txBox="1"/>
          <p:nvPr/>
        </p:nvSpPr>
        <p:spPr>
          <a:xfrm>
            <a:off x="1651000" y="5143500"/>
            <a:ext cx="8890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172033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2100" b="1">
                <a:solidFill>
                  <a:srgbClr val="172033"/>
                </a:solidFill>
                <a:latin typeface="Malgun Gothic" panose="020B0503020000020004" pitchFamily="50" charset="-127"/>
              </a:rPr>
              <a:t>의 역할</a:t>
            </a:r>
            <a:r>
              <a:rPr lang="en-US" altLang="ko-KR" sz="2100" b="1">
                <a:solidFill>
                  <a:srgbClr val="1720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100" b="1">
                <a:solidFill>
                  <a:srgbClr val="172033"/>
                </a:solidFill>
                <a:latin typeface="Malgun Gothic" panose="020B0503020000020004" pitchFamily="50" charset="-127"/>
              </a:rPr>
              <a:t>판단을 대체하는 결론 → 판단을 돕는 근거와 검토 대상</a:t>
            </a:r>
          </a:p>
        </p:txBody>
      </p:sp>
    </p:spTree>
    <p:extLst>
      <p:ext uri="{BB962C8B-B14F-4D97-AF65-F5344CB8AC3E}">
        <p14:creationId xmlns:p14="http://schemas.microsoft.com/office/powerpoint/2010/main" val="1835994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325DF40-6C8C-130F-1CEB-B39C576DA793}"/>
              </a:ext>
            </a:extLst>
          </p:cNvPr>
          <p:cNvSpPr/>
          <p:nvPr/>
        </p:nvSpPr>
        <p:spPr>
          <a:xfrm>
            <a:off x="685800" y="381000"/>
            <a:ext cx="1333500" cy="355600"/>
          </a:xfrm>
          <a:prstGeom prst="roundRect">
            <a:avLst/>
          </a:prstGeom>
          <a:solidFill>
            <a:srgbClr val="697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Q&amp;A APPENDIX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E68C8-A12C-7FF6-CF03-F292096604C7}"/>
              </a:ext>
            </a:extLst>
          </p:cNvPr>
          <p:cNvSpPr txBox="1"/>
          <p:nvPr/>
        </p:nvSpPr>
        <p:spPr>
          <a:xfrm>
            <a:off x="685800" y="825500"/>
            <a:ext cx="1079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72033"/>
                </a:solidFill>
                <a:latin typeface="Malgun Gothic" panose="020B0503020000020004" pitchFamily="50" charset="-127"/>
              </a:rPr>
              <a:t>기능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D984C-21D4-8B5A-F3DE-D4570DEFBE57}"/>
              </a:ext>
            </a:extLst>
          </p:cNvPr>
          <p:cNvSpPr txBox="1"/>
          <p:nvPr/>
        </p:nvSpPr>
        <p:spPr>
          <a:xfrm>
            <a:off x="711200" y="15367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필요한 질문에 맞춰 월별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일별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계획</a:t>
            </a:r>
            <a:r>
              <a:rPr lang="en-US" altLang="ko-KR" sz="1200">
                <a:solidFill>
                  <a:srgbClr val="697386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>
                <a:solidFill>
                  <a:srgbClr val="697386"/>
                </a:solidFill>
                <a:latin typeface="Malgun Gothic" panose="020B0503020000020004" pitchFamily="50" charset="-127"/>
              </a:rPr>
              <a:t>관리 화면을 보여준다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41C297B-6E7F-E139-7055-2D5A9360BAD3}"/>
              </a:ext>
            </a:extLst>
          </p:cNvPr>
          <p:cNvSpPr/>
          <p:nvPr/>
        </p:nvSpPr>
        <p:spPr>
          <a:xfrm>
            <a:off x="635000" y="1968500"/>
            <a:ext cx="3429000" cy="2197100"/>
          </a:xfrm>
          <a:prstGeom prst="roundRect">
            <a:avLst/>
          </a:prstGeom>
          <a:solidFill>
            <a:srgbClr val="FFFFFF"/>
          </a:solidFill>
          <a:ln>
            <a:solidFill>
              <a:srgbClr val="D9D7CF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5051AE-09A3-2599-9836-641447750E7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032000"/>
            <a:ext cx="3302000" cy="20701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D739C1-EF67-1CCA-46DC-1C1167321BD9}"/>
              </a:ext>
            </a:extLst>
          </p:cNvPr>
          <p:cNvSpPr/>
          <p:nvPr/>
        </p:nvSpPr>
        <p:spPr>
          <a:xfrm>
            <a:off x="4381500" y="1968500"/>
            <a:ext cx="3429000" cy="2197100"/>
          </a:xfrm>
          <a:prstGeom prst="roundRect">
            <a:avLst/>
          </a:prstGeom>
          <a:solidFill>
            <a:srgbClr val="FFFFFF"/>
          </a:solidFill>
          <a:ln>
            <a:solidFill>
              <a:srgbClr val="D9D7CF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F48AC60-3574-FC93-F44D-DA0242ECD5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2032000"/>
            <a:ext cx="3302000" cy="207010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903F256-8E5D-7210-BBB6-E53B0C51BC09}"/>
              </a:ext>
            </a:extLst>
          </p:cNvPr>
          <p:cNvSpPr/>
          <p:nvPr/>
        </p:nvSpPr>
        <p:spPr>
          <a:xfrm>
            <a:off x="8128000" y="1968500"/>
            <a:ext cx="3429000" cy="2197100"/>
          </a:xfrm>
          <a:prstGeom prst="roundRect">
            <a:avLst/>
          </a:prstGeom>
          <a:solidFill>
            <a:srgbClr val="FFFFFF"/>
          </a:solidFill>
          <a:ln>
            <a:solidFill>
              <a:srgbClr val="D9D7CF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5DF76EB-5CC2-DDE4-8BCA-11631E72F82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032000"/>
            <a:ext cx="3302000" cy="2070100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C76B9A-2477-B98C-2DB0-FF482AE62AB5}"/>
              </a:ext>
            </a:extLst>
          </p:cNvPr>
          <p:cNvSpPr/>
          <p:nvPr/>
        </p:nvSpPr>
        <p:spPr>
          <a:xfrm>
            <a:off x="698500" y="4508500"/>
            <a:ext cx="330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1EBC87-4053-A881-6A7C-059411533277}"/>
              </a:ext>
            </a:extLst>
          </p:cNvPr>
          <p:cNvSpPr/>
          <p:nvPr/>
        </p:nvSpPr>
        <p:spPr>
          <a:xfrm>
            <a:off x="698500" y="4508500"/>
            <a:ext cx="76200" cy="1270000"/>
          </a:xfrm>
          <a:prstGeom prst="rect">
            <a:avLst/>
          </a:prstGeom>
          <a:solidFill>
            <a:srgbClr val="355F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0405F6-517B-6465-FAE0-4C2922973FDA}"/>
              </a:ext>
            </a:extLst>
          </p:cNvPr>
          <p:cNvSpPr txBox="1"/>
          <p:nvPr/>
        </p:nvSpPr>
        <p:spPr>
          <a:xfrm>
            <a:off x="952500" y="4699000"/>
            <a:ext cx="284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월별</a:t>
            </a:r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일별 추이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83436-EC68-E52B-CAC1-722E40D17318}"/>
              </a:ext>
            </a:extLst>
          </p:cNvPr>
          <p:cNvSpPr txBox="1"/>
          <p:nvPr/>
        </p:nvSpPr>
        <p:spPr>
          <a:xfrm>
            <a:off x="952500" y="5130800"/>
            <a:ext cx="2844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단기 변화와 장기 흐름을 분리해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B910603-13F0-0C46-B914-2F06FC6E9ACA}"/>
              </a:ext>
            </a:extLst>
          </p:cNvPr>
          <p:cNvSpPr/>
          <p:nvPr/>
        </p:nvSpPr>
        <p:spPr>
          <a:xfrm>
            <a:off x="4445000" y="4508500"/>
            <a:ext cx="330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DA8250-3587-A349-23C0-FAB7A6F66DC8}"/>
              </a:ext>
            </a:extLst>
          </p:cNvPr>
          <p:cNvSpPr/>
          <p:nvPr/>
        </p:nvSpPr>
        <p:spPr>
          <a:xfrm>
            <a:off x="4445000" y="4508500"/>
            <a:ext cx="76200" cy="1270000"/>
          </a:xfrm>
          <a:prstGeom prst="rect">
            <a:avLst/>
          </a:prstGeom>
          <a:solidFill>
            <a:srgbClr val="2473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E26BF-C3DC-1A53-3F3D-B3159C1CE19F}"/>
              </a:ext>
            </a:extLst>
          </p:cNvPr>
          <p:cNvSpPr txBox="1"/>
          <p:nvPr/>
        </p:nvSpPr>
        <p:spPr>
          <a:xfrm>
            <a:off x="4699000" y="4699000"/>
            <a:ext cx="284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계획 대비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C0966D-C342-BC16-DD0E-68EFED6CBBC2}"/>
              </a:ext>
            </a:extLst>
          </p:cNvPr>
          <p:cNvSpPr txBox="1"/>
          <p:nvPr/>
        </p:nvSpPr>
        <p:spPr>
          <a:xfrm>
            <a:off x="4699000" y="5130800"/>
            <a:ext cx="2844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실제 환율을 회사의 계획 기준과 연결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B5AE80-8B7B-F3E8-50CF-D2A685120684}"/>
              </a:ext>
            </a:extLst>
          </p:cNvPr>
          <p:cNvSpPr/>
          <p:nvPr/>
        </p:nvSpPr>
        <p:spPr>
          <a:xfrm>
            <a:off x="8191500" y="4508500"/>
            <a:ext cx="330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7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E7AF40-A24C-5C1F-E2ED-4DF9D6AE8224}"/>
              </a:ext>
            </a:extLst>
          </p:cNvPr>
          <p:cNvSpPr/>
          <p:nvPr/>
        </p:nvSpPr>
        <p:spPr>
          <a:xfrm>
            <a:off x="8191500" y="4508500"/>
            <a:ext cx="76200" cy="1270000"/>
          </a:xfrm>
          <a:prstGeom prst="rect">
            <a:avLst/>
          </a:prstGeom>
          <a:solidFill>
            <a:srgbClr val="765C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036917-D4D3-03CB-F5FE-6D17AE5C1CE0}"/>
              </a:ext>
            </a:extLst>
          </p:cNvPr>
          <p:cNvSpPr txBox="1"/>
          <p:nvPr/>
        </p:nvSpPr>
        <p:spPr>
          <a:xfrm>
            <a:off x="8445500" y="4699000"/>
            <a:ext cx="284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관리</a:t>
            </a:r>
            <a:r>
              <a:rPr lang="en-US" altLang="ko-KR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72033"/>
                </a:solidFill>
                <a:latin typeface="Malgun Gothic" panose="020B0503020000020004" pitchFamily="50" charset="-127"/>
              </a:rPr>
              <a:t>운영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99565B-BA7B-4667-7FC7-E7333B01FBCA}"/>
              </a:ext>
            </a:extLst>
          </p:cNvPr>
          <p:cNvSpPr txBox="1"/>
          <p:nvPr/>
        </p:nvSpPr>
        <p:spPr>
          <a:xfrm>
            <a:off x="8445500" y="5130800"/>
            <a:ext cx="28448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데이터 상태</a:t>
            </a:r>
            <a:r>
              <a:rPr lang="en-US" altLang="ko-KR" sz="1300">
                <a:solidFill>
                  <a:srgbClr val="4D586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4D586A"/>
                </a:solidFill>
                <a:latin typeface="Malgun Gothic" panose="020B0503020000020004" pitchFamily="50" charset="-127"/>
              </a:rPr>
              <a:t>업로드와 운영 정보를 확인</a:t>
            </a:r>
          </a:p>
        </p:txBody>
      </p:sp>
    </p:spTree>
    <p:extLst>
      <p:ext uri="{BB962C8B-B14F-4D97-AF65-F5344CB8AC3E}">
        <p14:creationId xmlns:p14="http://schemas.microsoft.com/office/powerpoint/2010/main" val="319644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사용자 지정</PresentationFormat>
  <Paragraphs>180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Imjun Koo</dc:creator>
  <cp:lastModifiedBy>Imjun Koo</cp:lastModifiedBy>
  <cp:revision>1</cp:revision>
  <dcterms:created xsi:type="dcterms:W3CDTF">2026-06-23T13:44:52Z</dcterms:created>
  <dcterms:modified xsi:type="dcterms:W3CDTF">2026-06-23T13:44:52Z</dcterms:modified>
</cp:coreProperties>
</file>